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0" y="7315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7200" b="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Sesion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200" b="0">
                <a:solidFill>
                  <a:srgbClr val="BBD5FF"/>
                </a:solidFill>
                <a:latin typeface="Calibri"/>
              </a:defRPr>
            </a:pPr>
            <a:r>
              <a:t>Introduccion a Kubernetes</a:t>
            </a:r>
            <a:br/>
            <a:r>
              <a:t>y Arquitectura del Cluster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84632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BBD5FF"/>
                </a:solidFill>
                <a:latin typeface="Calibri"/>
              </a:defRPr>
            </a:pPr>
            <a:r>
              <a:t>Kubernetes + Azure AKS Profesional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600" b="0">
                <a:solidFill>
                  <a:srgbClr val="99BBEE"/>
                </a:solidFill>
                <a:latin typeface="Calibri"/>
              </a:defRPr>
            </a:pPr>
            <a:r>
              <a:t>Area 2 — Modulos 01, 02 y 03  |  3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de la Sesion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 / 31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71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666666"/>
                </a:solidFill>
                <a:latin typeface="Calibri"/>
              </a:defRPr>
            </a:pPr>
            <a:r>
              <a:t>Bloque 1  (40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333333"/>
                </a:solidFill>
                <a:latin typeface="Calibri"/>
              </a:defRPr>
            </a:pPr>
            <a:r>
              <a:t>Introduccion a Kubernetes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Que es, por que existe, Docker vs K8s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109728" cy="100584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666666"/>
                </a:solidFill>
                <a:latin typeface="Calibri"/>
              </a:defRPr>
            </a:pPr>
            <a:r>
              <a:t>Bloque 2  (60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333333"/>
                </a:solidFill>
                <a:latin typeface="Calibri"/>
              </a:defRPr>
            </a:pPr>
            <a:r>
              <a:t>Arquitectura del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Control Plane, Workers, flujo completo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109728" cy="10058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666666"/>
                </a:solidFill>
                <a:latin typeface="Calibri"/>
              </a:defRPr>
            </a:pPr>
            <a:r>
              <a:t>Bloque 3  (55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976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333333"/>
                </a:solidFill>
                <a:latin typeface="Calibri"/>
              </a:defRPr>
            </a:pPr>
            <a:r>
              <a:t>Practica: Instalacion de Minikube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63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kubectl, Minikube, labs de exploracion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39"/>
            <a:ext cx="109728" cy="100584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492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666666"/>
                </a:solidFill>
                <a:latin typeface="Calibri"/>
              </a:defRPr>
            </a:pPr>
            <a:r>
              <a:t>Bloque 4  (15 min)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623559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333333"/>
                </a:solidFill>
                <a:latin typeface="Calibri"/>
              </a:defRPr>
            </a:pPr>
            <a:r>
              <a:t>Checkpoint y Cierre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98931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Repaso, preguntas, preview sesion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Break de 10 min entre Bloque 2 y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Bloque 1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400" b="0">
                <a:solidFill>
                  <a:srgbClr val="BBD5FF"/>
                </a:solidFill>
                <a:latin typeface="Calibri"/>
              </a:defRPr>
            </a:pPr>
            <a:r>
              <a:t>Introduccion a Kubernetes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11480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BBD5FF"/>
                </a:solidFill>
                <a:latin typeface="Calibri"/>
              </a:defRPr>
            </a:pPr>
            <a: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Evolucion: De Servidores Fisicos a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4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640080"/>
          </a:xfrm>
          <a:prstGeom prst="roundRect">
            <a:avLst/>
          </a:prstGeom>
          <a:solidFill>
            <a:srgbClr val="8B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Servidores Fisicos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1 servidor = 1 aplicacion</a:t>
            </a:r>
            <a:br/>
            <a:r>
              <a:t>(Sesion 1: virtualizacion)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1920240"/>
            <a:ext cx="320040" cy="4114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28800"/>
            <a:ext cx="2468880" cy="640080"/>
          </a:xfrm>
          <a:prstGeom prst="roundRect">
            <a:avLst/>
          </a:prstGeom>
          <a:solidFill>
            <a:srgbClr val="6A8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Virtualizacion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606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Multiples VMs por servidor</a:t>
            </a:r>
            <a:br/>
            <a:r>
              <a:t>(Sesion 1: Azure VM)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26480" y="1920240"/>
            <a:ext cx="320040" cy="4114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2468880" cy="640080"/>
          </a:xfrm>
          <a:prstGeom prst="roundRect">
            <a:avLst/>
          </a:prstGeom>
          <a:solidFill>
            <a:srgbClr val="23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Contenedores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100+ contenedores/servidor</a:t>
            </a:r>
            <a:br/>
            <a:r>
              <a:t>(Sesion 2: Dockerfile, Compose)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006840" y="1920240"/>
            <a:ext cx="320040" cy="4114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72600" y="1828800"/>
            <a:ext cx="2468880" cy="64008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Kubernetes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2606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Miles de contenedores</a:t>
            </a:r>
            <a:br/>
            <a:r>
              <a:t>Auto-scaling, self-healing, zero-downtime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D93B3B"/>
                </a:solidFill>
                <a:latin typeface="Calibri"/>
              </a:defRPr>
            </a:pPr>
            <a:r>
              <a:t>←  HOY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326CE5"/>
                </a:solidFill>
                <a:latin typeface="Calibri"/>
              </a:defRPr>
            </a:pPr>
            <a:r>
              <a:t>Pregunta clave:</a:t>
            </a:r>
          </a:p>
          <a:p>
            <a:pPr algn="l">
              <a:spcBef>
                <a:spcPts val="80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Que pasa cuando tienes 200 contenedores en 50 servidores? Quien los coordina?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Que es Kubernetes?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5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26CE5"/>
                </a:solidFill>
                <a:latin typeface="Calibri"/>
              </a:rPr>
              <a:t>⚙  Etimologia: </a:t>
            </a:r>
            <a:r>
              <a:rPr sz="2200">
                <a:solidFill>
                  <a:srgbClr val="333333"/>
                </a:solidFill>
                <a:latin typeface="Calibri"/>
              </a:rPr>
              <a:t>Del griego "kubernetes" (timonel/piloto). K + 8 letras + s = K8s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26CE5"/>
                </a:solidFill>
                <a:latin typeface="Calibri"/>
              </a:rPr>
              <a:t>📅  Origen: </a:t>
            </a:r>
            <a:r>
              <a:rPr sz="2200">
                <a:solidFill>
                  <a:srgbClr val="333333"/>
                </a:solidFill>
                <a:latin typeface="Calibri"/>
              </a:rPr>
              <a:t>Creado por Google en 2014, basado en 15 anios de experiencia interna (Borg)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26CE5"/>
                </a:solidFill>
                <a:latin typeface="Calibri"/>
              </a:rPr>
              <a:t>📋  Definicion: </a:t>
            </a:r>
            <a:r>
              <a:rPr sz="2200">
                <a:solidFill>
                  <a:srgbClr val="333333"/>
                </a:solidFill>
                <a:latin typeface="Calibri"/>
              </a:rPr>
              <a:t>Sistema que supervisa y administra contenedores automaticamente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26CE5"/>
                </a:solidFill>
                <a:latin typeface="Calibri"/>
              </a:rPr>
              <a:t>🌍  Hoy: </a:t>
            </a:r>
            <a:r>
              <a:rPr sz="2200">
                <a:solidFill>
                  <a:srgbClr val="333333"/>
                </a:solidFill>
                <a:latin typeface="Calibri"/>
              </a:rPr>
              <a:t>Proyecto open-source de la CNCF, estandar de la industria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212080"/>
            <a:ext cx="9418320" cy="8229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326CE5"/>
                </a:solidFill>
                <a:latin typeface="Calibri"/>
              </a:defRPr>
            </a:pPr>
            <a:r>
              <a:t>"Docker resuelve como empaquetar y correr UNA aplicacion.</a:t>
            </a:r>
            <a:br/>
            <a:r>
              <a:t>Kubernetes resuelve como ORQUESTAR miles de aplicaciones en produccion."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El Problema de la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6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33333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2EA043"/>
                </a:solidFill>
                <a:latin typeface="Calibri"/>
              </a:defRPr>
            </a:pPr>
            <a:r>
              <a:t>1 maquina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630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Facil gestionar manualmente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1371600" cy="1371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33333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60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2EA043"/>
                </a:solidFill>
                <a:latin typeface="Calibri"/>
              </a:defRPr>
            </a:pPr>
            <a:r>
              <a:t>2 maquinas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Aun manejable con 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017520"/>
            <a:ext cx="2743200" cy="1371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333333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57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E88D2A"/>
                </a:solidFill>
                <a:latin typeface="Calibri"/>
              </a:defRPr>
            </a:pPr>
            <a:r>
              <a:t>10 maquinas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57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Complejo coordinar manualmente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114800"/>
            <a:ext cx="4114800" cy="13716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7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33333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75487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D93B3B"/>
                </a:solidFill>
                <a:latin typeface="Calibri"/>
              </a:defRPr>
            </a:pPr>
            <a:r>
              <a:t>50+ maquinas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75487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IMPOSIBLE sin automatizacion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212079"/>
            <a:ext cx="5486400" cy="137160"/>
          </a:xfrm>
          <a:prstGeom prst="roundRect">
            <a:avLst/>
          </a:prstGeom>
          <a:solidFill>
            <a:srgbClr val="D9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5669280"/>
            <a:ext cx="9418320" cy="64008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Kubernetes = La solucion para gestionar contenedores a escala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Problemas que Kubernetes Resuelve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7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103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326CE5"/>
                </a:solidFill>
                <a:latin typeface="Calibri"/>
              </a:defRPr>
            </a:pPr>
            <a:r>
              <a:t>💥 Self-healing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Un contenedor se cae a las 3 AM en la maquina 23?</a:t>
            </a:r>
            <a:br/>
            <a:r>
              <a:t>K8s lo detecta y recrea automaticamente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2103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326CE5"/>
                </a:solidFill>
                <a:latin typeface="Calibri"/>
              </a:defRPr>
            </a:pPr>
            <a:r>
              <a:t>🎯 Desired State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Necesitas siempre 50 replicas distribuidas?</a:t>
            </a:r>
            <a:br/>
            <a:r>
              <a:t>K8s las mantiene sin intervencion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326CE5"/>
                </a:solidFill>
                <a:latin typeface="Calibri"/>
              </a:defRPr>
            </a:pPr>
            <a:r>
              <a:t>🔄 Rolling Updates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Actualizar 200 contenedores sin downtime?</a:t>
            </a:r>
            <a:br/>
            <a:r>
              <a:t>K8s los actualiza gradualmente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931920"/>
            <a:ext cx="5303520" cy="2103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326CE5"/>
                </a:solidFill>
                <a:latin typeface="Calibri"/>
              </a:defRPr>
            </a:pPr>
            <a:r>
              <a:t>🌐 Service Discovery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Balancear trafico entre 100 instancias?</a:t>
            </a:r>
            <a:br/>
            <a:r>
              <a:t>K8s enruta automaticamente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Docker Solo vs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8 / 31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66344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Aspecto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Docker solo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 Kubernetes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Escala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maquina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Miles de maquinas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 se cae un contenedor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Muerto. Reinicio manual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K8s lo detecta y recrea automaticamente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Actualizar la app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docker stop + docker run (downtime)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Rolling update sin downtime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Balanceo de carga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con nginx/HAProxy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Automatico con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Escalamiento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Manual: docker run mas instancias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kubectl scale --replicas=50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Configuracion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Variables de entorno, archivos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ConfigMaps, Secrets (encriptados)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Separacion de Responsabilidades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9 / 31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749039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Desarrolladores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Kubernetes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Administradores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Crear aplicaciones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Decide donde ejecutar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Provisionar servidores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CPU/RAM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 networking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Configurar seguridad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 checks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Auto-restart servicios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 infra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Dependencias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Load balancing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cluster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5303520"/>
            <a:ext cx="10332720" cy="9144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326CE5"/>
                </a:solidFill>
                <a:latin typeface="Calibri"/>
              </a:defRPr>
            </a:pPr>
            <a:r>
              <a:t>Devs: "Necesito 3 replicas con 512MB RAM"  |  Admins: "Aqui hay 10 servidores"  |  K8s: "Yo decido donde poner cada cosa"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Cuando Usar (y NO Usar)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10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E8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D93B3B"/>
                </a:solidFill>
                <a:latin typeface="Calibri"/>
              </a:defRPr>
            </a:pPr>
            <a:r>
              <a:t>❌  NO usar Kubernetes si...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Aplicacion es un monolito simple (1 servidor)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Equipo de 2-3 personas sin experiencia en infra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No necesitas escalar mas alla de pocos contenedores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Docker Compose resuelve el problema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5029200"/>
          </a:xfrm>
          <a:prstGeom prst="roundRect">
            <a:avLst/>
          </a:prstGeom>
          <a:solidFill>
            <a:srgbClr val="ECFAEF"/>
          </a:solidFill>
          <a:ln w="12700">
            <a:solidFill>
              <a:srgbClr val="C8E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2EA043"/>
                </a:solidFill>
                <a:latin typeface="Calibri"/>
              </a:defRPr>
            </a:pPr>
            <a:r>
              <a:t>✅  SI usar Kubernetes si...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Tienes microservicios (10+ servicios)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Necesitas alta disponibilidad (zero downtime)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Manejas cargas variables (auto-scaling)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Multiples equipos despliegan independientemente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Bloque 2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400" b="0">
                <a:solidFill>
                  <a:srgbClr val="BBD5FF"/>
                </a:solidFill>
                <a:latin typeface="Calibri"/>
              </a:defRPr>
            </a:pPr>
            <a:r>
              <a:t>Arquitectura del Cluster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11480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BBD5FF"/>
                </a:solidFill>
                <a:latin typeface="Calibri"/>
              </a:defRPr>
            </a:pPr>
            <a: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Arquitectura de un Cluster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12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280160"/>
            <a:ext cx="7589520" cy="20116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326CE5"/>
                </a:solidFill>
                <a:latin typeface="Calibri"/>
              </a:defRPr>
            </a:pPr>
            <a:r>
              <a:t>CONTROL PLANE  (el cerebro)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011680"/>
            <a:ext cx="1554480" cy="82296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API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011680"/>
            <a:ext cx="1554480" cy="82296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011680"/>
            <a:ext cx="1554480" cy="82296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Scheduler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011680"/>
            <a:ext cx="1554480" cy="82296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Controller</a:t>
            </a:r>
            <a:br/>
            <a:r>
              <a:t>Manager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200400" y="3383280"/>
            <a:ext cx="274320" cy="3657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6217920" y="3383280"/>
            <a:ext cx="274320" cy="3657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9235440" y="3383280"/>
            <a:ext cx="274320" cy="3657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3931920"/>
            <a:ext cx="3017520" cy="2377440"/>
          </a:xfrm>
          <a:prstGeom prst="roundRect">
            <a:avLst/>
          </a:prstGeom>
          <a:solidFill>
            <a:srgbClr val="EAF5EB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0233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2EA043"/>
                </a:solidFill>
                <a:latin typeface="Calibri"/>
              </a:defRPr>
            </a:pPr>
            <a:r>
              <a:t>Worker Node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805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kubelet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463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kube-proxy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2120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5778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[Pods]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931920"/>
            <a:ext cx="3017520" cy="2377440"/>
          </a:xfrm>
          <a:prstGeom prst="roundRect">
            <a:avLst/>
          </a:prstGeom>
          <a:solidFill>
            <a:srgbClr val="EAF5EB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40233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2EA043"/>
                </a:solidFill>
                <a:latin typeface="Calibri"/>
              </a:defRPr>
            </a:pPr>
            <a:r>
              <a:t>Worker Node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4805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kubelet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8463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kube-proxy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2120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5778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[Pods]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931920"/>
            <a:ext cx="3017520" cy="2377440"/>
          </a:xfrm>
          <a:prstGeom prst="roundRect">
            <a:avLst/>
          </a:prstGeom>
          <a:solidFill>
            <a:srgbClr val="EAF5EB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0233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2EA043"/>
                </a:solidFill>
                <a:latin typeface="Calibri"/>
              </a:defRPr>
            </a:pPr>
            <a:r>
              <a:t>Worker Node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4805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kubelet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8463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kube-proxy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2120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5778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[Pods]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Analogia: Kubernetes como un Hospital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13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5600" b="0">
                <a:solidFill>
                  <a:srgbClr val="333333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326CE5"/>
                </a:solidFill>
                <a:latin typeface="Calibri"/>
              </a:defRPr>
            </a:pPr>
            <a:r>
              <a:t>Control Plane = Administracion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🏨  Recepcion (API Server)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📁  Archivo medico (etcd)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🛏️  Gerente de camas (Scheduler)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👨‍⚕️  Supervisores de planta (Controllers)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ECFAEF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2EA043"/>
                </a:solidFill>
                <a:latin typeface="Calibri"/>
              </a:defRPr>
            </a:pPr>
            <a:r>
              <a:t>Worker Nodes = Habitaciones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9260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👩‍⚕️  Enfermero de planta (kubelet)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📞  Intercomunicacion (kube-proxy)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🧰  Equipo medico (Container Runtime)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🛏️  Pacientes = Contenedores (Pods)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Componentes del Control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14 / 31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5212080"/>
              </a:tblGrid>
              <a:tr h="95097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Componente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Analogia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Funcion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kube-apiserver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Recepcion del hospital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Punto de entrada unico. Todo pasa por aqui. Puerto 6443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etcd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Archivo medico central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 de datos distribuida. Guarda TODO el estado del cluster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kube-scheduler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Gerente de camas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Decide en que Worker colocar cada Pod nuevo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kube-controller-manager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Supervisores de planta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Monitorean que todo este en el estado correcto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kube-apiserver: La Recepcion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15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Cuando ejecutas "kubectl get pods", la peticion va al API Server.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94560"/>
            <a:ext cx="2743200" cy="64008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1. Autentica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97680" y="2286000"/>
            <a:ext cx="548640" cy="4114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219456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Quien eres?</a:t>
            </a:r>
          </a:p>
        </p:txBody>
      </p:sp>
      <p:sp>
        <p:nvSpPr>
          <p:cNvPr id="8" name="Down Arrow 7"/>
          <p:cNvSpPr/>
          <p:nvPr/>
        </p:nvSpPr>
        <p:spPr>
          <a:xfrm>
            <a:off x="2560320" y="2880360"/>
            <a:ext cx="274320" cy="3657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3200400"/>
            <a:ext cx="2743200" cy="64008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2. Autoriza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97680" y="3291840"/>
            <a:ext cx="548640" cy="4114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20040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Tienes permiso?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560320" y="3886200"/>
            <a:ext cx="274320" cy="3657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4206240"/>
            <a:ext cx="2743200" cy="64008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3. Valida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97680" y="4297680"/>
            <a:ext cx="548640" cy="4114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420624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La peticion tiene sentido?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560320" y="4892040"/>
            <a:ext cx="274320" cy="3657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5212080"/>
            <a:ext cx="2743200" cy="64008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4. Ejecuta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97680" y="5303520"/>
            <a:ext cx="548640" cy="4114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521208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Guarda en etcd o envia instrucciones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etcd: La Base de Datos del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16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Todo lo que Kubernetes "sabe" esta en etcd: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Cuantos pods existen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En que nodo esta cada pod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Que configuracion tiene cada servicio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Estado actual vs estado deseado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6400800" cy="914400"/>
          </a:xfrm>
          <a:prstGeom prst="roundRect">
            <a:avLst/>
          </a:prstGeom>
          <a:solidFill>
            <a:srgbClr val="F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D93B3B"/>
                </a:solidFill>
                <a:latin typeface="Calibri"/>
              </a:defRPr>
            </a:pPr>
            <a:r>
              <a:t>⚠️  Si etcd se pierde, se pierde TODO el estado del cluster.</a:t>
            </a:r>
            <a:br/>
            <a:r>
              <a:t>En produccion: siempre 3 o 5 replicas de etcd.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515600" cy="9144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326CE5"/>
                </a:solidFill>
                <a:latin typeface="Calibri"/>
              </a:defRPr>
            </a:pPr>
            <a:r>
              <a:t>🎓 Tip CKA: Saber hacer backup y restore de etcd es pregunta SEGURA en el examen.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Scheduler y Controller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17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846320"/>
          </a:xfrm>
          <a:prstGeom prst="roundRect">
            <a:avLst/>
          </a:prstGeom>
          <a:solidFill>
            <a:srgbClr val="F7F9FE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326CE5"/>
                </a:solidFill>
                <a:latin typeface="Calibri"/>
              </a:defRPr>
            </a:pPr>
            <a:r>
              <a:t>📋  kube-scheduler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Cuando creas un Pod nuevo, el Scheduler decide donde ponerlo.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Que nodo tiene suficiente CPU?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Que nodo tiene suficiente RAM?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Cumple las reglas de afinidad?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🏥 "Este paciente necesita oxigeno, solo puede ir a habitaciones del piso 3"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03520" cy="4846320"/>
          </a:xfrm>
          <a:prstGeom prst="roundRect">
            <a:avLst/>
          </a:prstGeom>
          <a:solidFill>
            <a:srgbClr val="F7F9FE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326CE5"/>
                </a:solidFill>
                <a:latin typeface="Calibri"/>
              </a:defRPr>
            </a:pPr>
            <a:r>
              <a:t>🔍  kube-controller-manager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Supervisores que vigilan constantemente el estado del cluster.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Deployment Controller: "pedi 3 replicas, solo hay 2 → creo una mas"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Node Controller: "nodo 5 no responde → marco como NotReady"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663440"/>
            <a:ext cx="4846320" cy="10972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326CE5"/>
                </a:solidFill>
                <a:latin typeface="Calibri"/>
              </a:defRPr>
            </a:pPr>
            <a:r>
              <a:t>🎯 Desired State:</a:t>
            </a:r>
            <a:br/>
            <a:r>
              <a:t>Yo digo QUE quiero,</a:t>
            </a:r>
            <a:br/>
            <a:r>
              <a:t>K8s se encarga del COMO.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Componentes del Worker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18 / 31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08960"/>
                <a:gridCol w="5029200"/>
              </a:tblGrid>
              <a:tr h="9601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Componente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Analogia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Funcion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kubelet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Enfermero de planta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Agente en cada nodo. Ejecuta y monitorea Pods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kube-proxy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Sistema de intercomunicacion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 red y balanceo de carga entre Pods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Container Runtime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Equipo medico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 los contenedores (containerd, CRI-O)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💡 Docker ya no es el runtime por defecto desde K8s 1.24. Ahora se usa containerd. Pero las imagenes Docker siguen funcionando igual.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Worker Node: Detalle de Componentes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19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64008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kubelet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28016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Agente que corre en CADA Worker Node. Recibe instrucciones del API Server y reporta de vuelta el estado de los Pods. Como el enfermero que ejecuta ordenes del doctor y reporta el estado del paciente.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2560320" cy="640080"/>
          </a:xfrm>
          <a:prstGeom prst="roundRect">
            <a:avLst/>
          </a:prstGeom>
          <a:solidFill>
            <a:srgbClr val="23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kube-proxy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0175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Gestiona las reglas de red en cada nodo. Cuando creas un Service, kube-proxy se encarga de que el trafico llegue al Pod correcto. Usa iptables o IPVS.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2560320" cy="6400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Container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7548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Lo que realmente ejecuta los contenedores. containerd es el estandar actual (era parte de Docker). Las imagenes que construyes con Docker siguen funcionando.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Flujo Completo: kubectl create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20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48640" cy="5029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3444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kubectl envia request al API Server (puerto 6443)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" y="1755647"/>
            <a:ext cx="36576" cy="228600"/>
          </a:xfrm>
          <a:prstGeom prst="rect">
            <a:avLst/>
          </a:prstGeom>
          <a:solidFill>
            <a:srgbClr val="B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84248"/>
            <a:ext cx="548640" cy="5029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8424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API Server autentica, autoriza y valida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2505455"/>
            <a:ext cx="36576" cy="228600"/>
          </a:xfrm>
          <a:prstGeom prst="rect">
            <a:avLst/>
          </a:prstGeom>
          <a:solidFill>
            <a:srgbClr val="B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734056"/>
            <a:ext cx="548640" cy="5029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34056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API Server guarda el Deployment en etcd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" y="3255263"/>
            <a:ext cx="36576" cy="228600"/>
          </a:xfrm>
          <a:prstGeom prst="rect">
            <a:avLst/>
          </a:prstGeom>
          <a:solidFill>
            <a:srgbClr val="B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483864"/>
            <a:ext cx="548640" cy="5029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83864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Controller Manager detecta Deployment nuevo, crea 3 objetos Pod (Pending)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" y="4005071"/>
            <a:ext cx="36576" cy="228600"/>
          </a:xfrm>
          <a:prstGeom prst="rect">
            <a:avLst/>
          </a:prstGeom>
          <a:solidFill>
            <a:srgbClr val="B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233672"/>
            <a:ext cx="548640" cy="5029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33672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Scheduler asigna: Pod1→Worker1, Pod2→Worker2, Pod3→Worker1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" y="4754879"/>
            <a:ext cx="36576" cy="228600"/>
          </a:xfrm>
          <a:prstGeom prst="rect">
            <a:avLst/>
          </a:prstGeom>
          <a:solidFill>
            <a:srgbClr val="B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983479"/>
            <a:ext cx="548640" cy="5029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83479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kubelet descarga imagen nginx via containerd, arranca contenedores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" y="5504686"/>
            <a:ext cx="36576" cy="228600"/>
          </a:xfrm>
          <a:prstGeom prst="rect">
            <a:avLst/>
          </a:prstGeom>
          <a:solidFill>
            <a:srgbClr val="B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5733288"/>
            <a:ext cx="548640" cy="5029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73328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kubelet reporta al API Server: Pods Running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6126480"/>
            <a:ext cx="941832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326CE5"/>
                </a:solidFill>
                <a:latin typeface="Calibri"/>
              </a:defRPr>
            </a:pPr>
            <a:r>
              <a:t>🎯 Self-healing: si Worker2 se cae, el Controller Manager detecta que faltan Pods y crea nuevos automaticamente.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Bloque 3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400" b="0">
                <a:solidFill>
                  <a:srgbClr val="BBD5FF"/>
                </a:solidFill>
                <a:latin typeface="Calibri"/>
              </a:defRPr>
            </a:pPr>
            <a:r>
              <a:t>Practica: Instalacion de Minikube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11480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BBD5FF"/>
                </a:solidFill>
                <a:latin typeface="Calibri"/>
              </a:defRPr>
            </a:pPr>
            <a: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Minikube vs Cluster Real (AKS)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22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Minikube crea un cluster Kubernetes de UN solo nodo en tu maquina. Perfecto para aprender. NO es para produccion.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43891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Minikube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Cluster real (AKS)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Nodos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(todo-en-uno)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3+ masters, N workers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Desarrollo, aprendizaje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Costo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Gratis, corre en tu laptop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Pago por nodo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Setup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minikube start (1 minuto)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10-30 min de configuracion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943600"/>
            <a:ext cx="1051560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326CE5"/>
                </a:solidFill>
                <a:latin typeface="Calibri"/>
              </a:defRPr>
            </a:pPr>
            <a:r>
              <a:t>💡 Todo lo que aprendan en Minikube aplica igual en AKS o cualquier cluster real.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Paso 1: Instalar kubectl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23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Descargar kubectl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curl -LO "https://dl.k8s.io/release/\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$(curl -L -s https://dl.k8s.io/release/stable.txt)\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/bin/linux/amd64/kubectl"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Instalar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sudo install -o root -g root -m 0755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kubectl /usr/local/bin/kubectl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Verificar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kubectl version --client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Esperado: Client Version: v1.XX.X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Paso 2: Instalar Minikube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24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50292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Descargar Minikube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curl -LO https://storage.googleapis.com/\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minikube/releases/latest/minikube-linux-amd64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Instalar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sudo install minikube-linux-amd64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/usr/local/bin/minikube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Verificar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minikube version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Esperado: minikube version: v1.XX.X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Crear el cluster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minikube start --driver=docker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Tarda 1-3 minutos mientras descarga imagenes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Paso 3: Verificar el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25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5720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Estado de Minikube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minikube status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minikube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type: Control Plane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host: Running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kubelet: Running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apiserver: Running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Nodos del cluster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nodes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NAME       STATUS   ROLES           AGE   VERSION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minikube   Ready    control-plane   1m    v1.XX.X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126480"/>
            <a:ext cx="10698480" cy="45720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✅  Ya tienes un cluster Kubernetes funcionando!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Lab: Explorar los Componentes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26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347472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TODOS los pods del sistema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 -n kube-system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NAME                               READY   STATUS    AGE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coredns-xxxx                       1/1     Running   5m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etcd-minikube                      1/1     Running   5m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kube-apiserver-minikube            1/1     Running   5m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kube-controller-manager-minikube   1/1     Running   5m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kube-proxy-xxxx                    1/1     Running   5m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kube-scheduler-minikube            1/1     Running   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🏨  kube-apiserver = la recepcion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📁  etcd = la base de datos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📋  kube-scheduler = el asignador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🔍  kube-controller-manager = los supervisores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🌐  kube-proxy = el gestor de red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📡  coredns = el DNS interno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Lab: Desplegar App y Ver Self-Healing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27 / 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29768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Crear Deployment con 2 replicas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create deployment nginx-demo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--image=nginx --replicas=2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pods creandose en tiempo real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 -w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NAME                         READY   STATUS    AGE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nginx-demo-xxxx-abc          1/1     Running   10s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nginx-demo-xxxx-def          1/1     Running   10s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Eliminar un pod (copiar nombre real)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delete pod nginx-demo-xxxx-abc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Inmediatamente verificar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Resultado: K8s ya esta creando un reemplazo!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60720"/>
            <a:ext cx="10698480" cy="7315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💥 Self-healing: Pedi 2 replicas. K8s siempre mantiene 2. Si se cae uno, lo recrea. Si se cae el servidor, lo mueve a otro nodo.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Bloque 4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400" b="0">
                <a:solidFill>
                  <a:srgbClr val="BBD5FF"/>
                </a:solidFill>
                <a:latin typeface="Calibri"/>
              </a:defRPr>
            </a:pPr>
            <a:r>
              <a:t>Checkpoint y 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11480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BBD5FF"/>
                </a:solidFill>
                <a:latin typeface="Calibri"/>
              </a:defRPr>
            </a:pPr>
            <a: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Checkpoint: Preguntas de Repaso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29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Calibri"/>
              </a:rPr>
              <a:t>1. Que problema resuelve K8s que Docker solo no?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326CE5"/>
                </a:solidFill>
                <a:latin typeface="Calibri"/>
              </a:defRPr>
            </a:pPr>
            <a:r>
              <a:t>→  Orquestacion a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Calibri"/>
              </a:rPr>
              <a:t>2. Cuales son los 4 componentes del Control Plane?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488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326CE5"/>
                </a:solidFill>
                <a:latin typeface="Calibri"/>
              </a:defRPr>
            </a:pPr>
            <a:r>
              <a:t>→  API Server, etcd, Scheduler, Controller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Calibri"/>
              </a:rPr>
              <a:t>3. Que hace el kubelet?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0175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326CE5"/>
                </a:solidFill>
                <a:latin typeface="Calibri"/>
              </a:defRPr>
            </a:pPr>
            <a:r>
              <a:t>→  Agente en cada nodo que ejecuta y monitorea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19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Calibri"/>
              </a:rPr>
              <a:t>4. Que es "desired state"?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8619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326CE5"/>
                </a:solidFill>
                <a:latin typeface="Calibri"/>
              </a:defRPr>
            </a:pPr>
            <a:r>
              <a:t>→  Yo digo que quiero, K8s lo mantiene automaticamente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Calibri"/>
              </a:rPr>
              <a:t>5. Que paso al eliminar un Pod del Deployment?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7548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326CE5"/>
                </a:solidFill>
                <a:latin typeface="Calibri"/>
              </a:defRPr>
            </a:pPr>
            <a:r>
              <a:t>→  K8s lo recreo (self-healing)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Calibri"/>
              </a:rPr>
              <a:t>6. Comando para ver componentes del sistema?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6235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326CE5"/>
                </a:solidFill>
                <a:latin typeface="Calibri"/>
              </a:defRPr>
            </a:pPr>
            <a:r>
              <a:t>→  kubectl get pods -n kube-system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Preview: Sesion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30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Proxima sesion: entramos de lleno en los workloads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2286000" cy="7315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860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La unidad minima de Kubernetes. Diferencia con contenedores Docker.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2286000" cy="7315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ReplicaSets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657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Como mantener multiples copias de un Pod corriendo.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2286000" cy="7315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Deployments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29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Actualizaciones sin downtime, rollbacks automaticos.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669280"/>
            <a:ext cx="10332720" cy="7315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326CE5"/>
                </a:solidFill>
                <a:latin typeface="Calibri"/>
              </a:defRPr>
            </a:pPr>
            <a:r>
              <a:t>🎯 La sesion mas hands-on hasta ahora: crear Pods con multiples contenedores, rolling updates y rollbacks.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BBD5FF"/>
                </a:solidFill>
                <a:latin typeface="Calibri"/>
              </a:defRPr>
            </a:pPr>
            <a:r>
              <a:t>Nos vemos en la Sesion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38912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BBD5FF"/>
                </a:solidFill>
                <a:latin typeface="Calibri"/>
              </a:defRPr>
            </a:pPr>
            <a:r>
              <a:t>Tarea opcional: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99BBEE"/>
                </a:solidFill>
                <a:latin typeface="Calibri"/>
              </a:defRPr>
            </a:pPr>
            <a:r>
              <a:t>Leer README del Modulo 04 (Pods vs Contenedores)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600" b="0">
                <a:solidFill>
                  <a:srgbClr val="99BBEE"/>
                </a:solidFill>
                <a:latin typeface="Calibri"/>
              </a:defRPr>
            </a:pPr>
            <a:r>
              <a:t>Configurar alias: alias k=kubectl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BBD5FF"/>
                </a:solidFill>
                <a:latin typeface="Calibri"/>
              </a:defRPr>
            </a:pPr>
            <a: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