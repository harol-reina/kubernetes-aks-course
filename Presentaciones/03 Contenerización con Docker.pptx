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media/image29.png" ContentType="image/png"/>
  <Override PartName="/ppt/media/image27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19.png" ContentType="image/png"/>
  <Override PartName="/ppt/media/image1.png" ContentType="image/png"/>
  <Override PartName="/ppt/media/image2.png" ContentType="image/png"/>
  <Override PartName="/ppt/media/image5.png" ContentType="image/png"/>
  <Override PartName="/ppt/media/image37.png" ContentType="image/png"/>
  <Override PartName="/ppt/media/image14.png" ContentType="image/png"/>
  <Override PartName="/ppt/media/image15.png" ContentType="image/png"/>
  <Override PartName="/ppt/media/image9.png" ContentType="image/png"/>
  <Override PartName="/ppt/media/image28.png" ContentType="image/png"/>
  <Override PartName="/ppt/media/image6.png" ContentType="image/png"/>
  <Override PartName="/ppt/media/image18.png" ContentType="image/png"/>
  <Override PartName="/ppt/media/image44.png" ContentType="image/png"/>
  <Override PartName="/ppt/media/image26.png" ContentType="image/png"/>
  <Override PartName="/ppt/media/image40.svg" ContentType="image/svg"/>
  <Override PartName="/ppt/media/image31.png" ContentType="image/png"/>
  <Override PartName="/ppt/media/image33.png" ContentType="image/png"/>
  <Override PartName="/ppt/media/image43.png" ContentType="image/png"/>
  <Override PartName="/ppt/media/image21.png" ContentType="image/png"/>
  <Override PartName="/ppt/media/image10.jpeg" ContentType="image/jpeg"/>
  <Override PartName="/ppt/media/image30.png" ContentType="image/png"/>
  <Override PartName="/ppt/media/image41.png" ContentType="image/png"/>
  <Override PartName="/ppt/media/image12.png" ContentType="image/png"/>
  <Override PartName="/ppt/media/image42.png" ContentType="image/png"/>
  <Override PartName="/ppt/media/image16.png" ContentType="image/png"/>
  <Override PartName="/ppt/media/image32.png" ContentType="image/png"/>
  <Override PartName="/ppt/media/image45.png" ContentType="image/png"/>
  <Override PartName="/ppt/media/image46.png" ContentType="image/png"/>
  <Override PartName="/ppt/media/image4.png" ContentType="image/png"/>
  <Override PartName="/ppt/media/image11.jpeg" ContentType="image/jpeg"/>
  <Override PartName="/ppt/media/image38.jpeg" ContentType="image/jpeg"/>
  <Override PartName="/ppt/media/image13.png" ContentType="image/png"/>
  <Override PartName="/ppt/media/image35.png" ContentType="image/png"/>
  <Override PartName="/ppt/media/image34.png" ContentType="image/png"/>
  <Override PartName="/ppt/media/image17.png" ContentType="image/png"/>
  <Override PartName="/ppt/media/image25.png" ContentType="image/png"/>
  <Override PartName="/ppt/media/image3.png" ContentType="image/png"/>
  <Override PartName="/ppt/media/image39.png" ContentType="image/png"/>
  <Override PartName="/ppt/media/image20.png" ContentType="image/png"/>
  <Override PartName="/ppt/media/image8.png" ContentType="image/png"/>
  <Override PartName="/ppt/media/image36.png" ContentType="image/pn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6256000" cy="9144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noFill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25C926-B826-4911-898C-3DC70C14176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noFill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x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814220-D27C-4489-AA56-0F588A704BD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noFill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titl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sty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D57850-D7BD-4D37-97ED-975128620B8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noFill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F8E1A0-62F0-443F-8772-92E67D0A85A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noFill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6B4D6D-05A3-438C-9F6B-7770C6C711F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noFill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6456D8-66DC-4B49-B88D-10661B68CD6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noFill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3392CF-523B-48FB-8877-1CB3CF5EE99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noFill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FA148B-0236-43BD-B0DB-79BA9D594E1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noFill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FA6771-3BFB-4A20-A523-6C1BF83F6DA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noFill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6FBFB7-A857-4A2B-82DC-EE8EF61C6A0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noFill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E39C7D-A2A4-4504-BFF4-AE3649EDBCE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11.jpeg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Relationship Id="rId12" Type="http://schemas.openxmlformats.org/officeDocument/2006/relationships/image" Target="../media/image32.png"/><Relationship Id="rId13" Type="http://schemas.openxmlformats.org/officeDocument/2006/relationships/image" Target="../media/image33.png"/><Relationship Id="rId14" Type="http://schemas.openxmlformats.org/officeDocument/2006/relationships/image" Target="../media/image34.png"/><Relationship Id="rId15" Type="http://schemas.openxmlformats.org/officeDocument/2006/relationships/image" Target="../media/image5.png"/><Relationship Id="rId16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8.jpeg"/><Relationship Id="rId2" Type="http://schemas.openxmlformats.org/officeDocument/2006/relationships/image" Target="../media/image39.png"/><Relationship Id="rId3" Type="http://schemas.openxmlformats.org/officeDocument/2006/relationships/image" Target="../media/image40.sv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AutoShape 2"/>
          <p:cNvSpPr/>
          <p:nvPr/>
        </p:nvSpPr>
        <p:spPr>
          <a:xfrm>
            <a:off x="0" y="0"/>
            <a:ext cx="16255800" cy="9143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AutoShape 4"/>
          <p:cNvSpPr/>
          <p:nvPr/>
        </p:nvSpPr>
        <p:spPr>
          <a:xfrm>
            <a:off x="0" y="0"/>
            <a:ext cx="16255800" cy="91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" name="Imagen 7" descr=""/>
          <p:cNvPicPr/>
          <p:nvPr/>
        </p:nvPicPr>
        <p:blipFill>
          <a:blip r:embed="rId1"/>
          <a:stretch/>
        </p:blipFill>
        <p:spPr>
          <a:xfrm>
            <a:off x="-20160" y="-8640"/>
            <a:ext cx="16275960" cy="915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Título 1"/>
          <p:cNvSpPr txBox="1"/>
          <p:nvPr/>
        </p:nvSpPr>
        <p:spPr>
          <a:xfrm>
            <a:off x="1129680" y="5761440"/>
            <a:ext cx="13977000" cy="766800"/>
          </a:xfrm>
          <a:prstGeom prst="rect">
            <a:avLst/>
          </a:prstGeom>
          <a:noFill/>
          <a:ln w="0">
            <a:noFill/>
          </a:ln>
          <a:effectLst>
            <a:outerShdw dist="38160" dir="5400000" blurRad="228960" rotWithShape="0">
              <a:srgbClr val="000000">
                <a:alpha val="40000"/>
              </a:srgbClr>
            </a:outerShdw>
          </a:effectLst>
        </p:spPr>
        <p:txBody>
          <a:bodyPr anchor="ctr">
            <a:normAutofit/>
          </a:bodyPr>
          <a:p>
            <a:pPr algn="ctr" defTabSz="685800">
              <a:lnSpc>
                <a:spcPct val="90000"/>
              </a:lnSpc>
            </a:pPr>
            <a:r>
              <a:rPr b="1" lang="es-CO" sz="2800" strike="noStrike" u="none">
                <a:solidFill>
                  <a:srgbClr val="6dfd8c"/>
                </a:solidFill>
                <a:effectLst/>
                <a:uFillTx/>
                <a:latin typeface="Arial"/>
              </a:rPr>
              <a:t>Contenerización con Docker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Marcador de contenido 2"/>
          <p:cNvSpPr txBox="1"/>
          <p:nvPr/>
        </p:nvSpPr>
        <p:spPr>
          <a:xfrm>
            <a:off x="1129680" y="6717600"/>
            <a:ext cx="13977000" cy="595080"/>
          </a:xfrm>
          <a:prstGeom prst="rect">
            <a:avLst/>
          </a:prstGeom>
          <a:noFill/>
          <a:ln w="0">
            <a:noFill/>
          </a:ln>
          <a:effectLst>
            <a:outerShdw dist="38160" dir="5400000" blurRad="228960" rotWithShape="0">
              <a:srgbClr val="000000">
                <a:alpha val="40000"/>
              </a:srgbClr>
            </a:outerShdw>
          </a:effectLst>
        </p:spPr>
        <p:txBody>
          <a:bodyPr anchor="t">
            <a:normAutofit/>
          </a:bodyPr>
          <a:p>
            <a:pPr algn="ctr" defTabSz="685800">
              <a:lnSpc>
                <a:spcPct val="90000"/>
              </a:lnSpc>
              <a:spcBef>
                <a:spcPts val="751"/>
              </a:spcBef>
              <a:tabLst>
                <a:tab algn="l" pos="0"/>
              </a:tabLst>
            </a:pPr>
            <a:r>
              <a:rPr b="0" lang="es-CO" sz="16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La Evolución de la Virtualización - De Máquinas Virtuales a Contenedores Modernos y Eficientes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6" name="Imagen 9" descr=""/>
          <p:cNvPicPr/>
          <p:nvPr/>
        </p:nvPicPr>
        <p:blipFill>
          <a:blip r:embed="rId2"/>
          <a:stretch/>
        </p:blipFill>
        <p:spPr>
          <a:xfrm>
            <a:off x="5206680" y="2493000"/>
            <a:ext cx="5823000" cy="357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Imagen 10" descr=""/>
          <p:cNvPicPr/>
          <p:nvPr/>
        </p:nvPicPr>
        <p:blipFill>
          <a:blip r:embed="rId3"/>
          <a:stretch/>
        </p:blipFill>
        <p:spPr>
          <a:xfrm>
            <a:off x="248400" y="210960"/>
            <a:ext cx="2408040" cy="5950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8" name="Conector recto 12"/>
          <p:cNvCxnSpPr/>
          <p:nvPr/>
        </p:nvCxnSpPr>
        <p:spPr>
          <a:xfrm>
            <a:off x="4740840" y="5697720"/>
            <a:ext cx="6755040" cy="360"/>
          </a:xfrm>
          <a:prstGeom prst="straightConnector1">
            <a:avLst/>
          </a:prstGeom>
          <a:ln>
            <a:solidFill>
              <a:srgbClr val="6dfd8c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Marcador de contenido 4" descr=""/>
          <p:cNvPicPr/>
          <p:nvPr/>
        </p:nvPicPr>
        <p:blipFill>
          <a:blip r:embed="rId1"/>
          <a:stretch/>
        </p:blipFill>
        <p:spPr>
          <a:xfrm>
            <a:off x="0" y="-8640"/>
            <a:ext cx="16271640" cy="915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AutoShape 3"/>
          <p:cNvSpPr/>
          <p:nvPr/>
        </p:nvSpPr>
        <p:spPr>
          <a:xfrm>
            <a:off x="6997680" y="1117440"/>
            <a:ext cx="8076960" cy="689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AutoShape 4"/>
          <p:cNvSpPr/>
          <p:nvPr/>
        </p:nvSpPr>
        <p:spPr>
          <a:xfrm>
            <a:off x="6997680" y="1117440"/>
            <a:ext cx="8076960" cy="13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AutoShape 5"/>
          <p:cNvSpPr/>
          <p:nvPr/>
        </p:nvSpPr>
        <p:spPr>
          <a:xfrm>
            <a:off x="6997680" y="2959200"/>
            <a:ext cx="8076960" cy="13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AutoShape 6"/>
          <p:cNvSpPr/>
          <p:nvPr/>
        </p:nvSpPr>
        <p:spPr>
          <a:xfrm>
            <a:off x="6997680" y="4788000"/>
            <a:ext cx="8076960" cy="13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AutoShape 7"/>
          <p:cNvSpPr/>
          <p:nvPr/>
        </p:nvSpPr>
        <p:spPr>
          <a:xfrm>
            <a:off x="6997680" y="6629400"/>
            <a:ext cx="8076960" cy="13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" name="Picture 8" descr=""/>
          <p:cNvPicPr/>
          <p:nvPr/>
        </p:nvPicPr>
        <p:blipFill>
          <a:blip r:embed="rId2"/>
          <a:srcRect l="1012" t="0" r="1012" b="0"/>
          <a:stretch/>
        </p:blipFill>
        <p:spPr>
          <a:xfrm>
            <a:off x="14135040" y="190440"/>
            <a:ext cx="1904760" cy="46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extBox 9"/>
          <p:cNvSpPr/>
          <p:nvPr/>
        </p:nvSpPr>
        <p:spPr>
          <a:xfrm>
            <a:off x="1181160" y="4114800"/>
            <a:ext cx="5181120" cy="90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48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Agenda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6997680" y="1117440"/>
            <a:ext cx="807696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29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01. Evolución Virtualización</a:t>
            </a:r>
            <a:endParaRPr b="0" lang="en-US" sz="2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1"/>
          <p:cNvSpPr/>
          <p:nvPr/>
        </p:nvSpPr>
        <p:spPr>
          <a:xfrm>
            <a:off x="6997680" y="2959200"/>
            <a:ext cx="807696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29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02. Fundamentos Docker</a:t>
            </a:r>
            <a:endParaRPr b="0" lang="en-US" sz="2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2"/>
          <p:cNvSpPr/>
          <p:nvPr/>
        </p:nvSpPr>
        <p:spPr>
          <a:xfrm>
            <a:off x="6997680" y="4788000"/>
            <a:ext cx="807696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29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03. Docker vs VMs</a:t>
            </a:r>
            <a:endParaRPr b="0" lang="en-US" sz="2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3"/>
          <p:cNvSpPr/>
          <p:nvPr/>
        </p:nvSpPr>
        <p:spPr>
          <a:xfrm>
            <a:off x="6997680" y="6629400"/>
            <a:ext cx="807696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29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04. Casos de Uso</a:t>
            </a:r>
            <a:endParaRPr b="0" lang="en-US" sz="2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4"/>
          <p:cNvSpPr/>
          <p:nvPr/>
        </p:nvSpPr>
        <p:spPr>
          <a:xfrm>
            <a:off x="6997680" y="1739880"/>
            <a:ext cx="807696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Historia y evolución de la virtualización hasta los contenedores modernos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5"/>
          <p:cNvSpPr/>
          <p:nvPr/>
        </p:nvSpPr>
        <p:spPr>
          <a:xfrm>
            <a:off x="6997680" y="3581280"/>
            <a:ext cx="807696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Conceptos básicos, arquitectura y componentes principales de Docker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6"/>
          <p:cNvSpPr/>
          <p:nvPr/>
        </p:nvSpPr>
        <p:spPr>
          <a:xfrm>
            <a:off x="6997680" y="5423040"/>
            <a:ext cx="807696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Comparativa detallada entre contenedores y máquinas virtuales tradicionales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7"/>
          <p:cNvSpPr/>
          <p:nvPr/>
        </p:nvSpPr>
        <p:spPr>
          <a:xfrm>
            <a:off x="6997680" y="7264440"/>
            <a:ext cx="807696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Aplicaciones prácticas y mejores prácticas para implementar Docker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Marcador de contenido 1" descr=""/>
          <p:cNvPicPr/>
          <p:nvPr/>
        </p:nvPicPr>
        <p:blipFill>
          <a:blip r:embed="rId1"/>
          <a:stretch/>
        </p:blipFill>
        <p:spPr>
          <a:xfrm>
            <a:off x="360" y="-8640"/>
            <a:ext cx="16271640" cy="915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AutoShape 3"/>
          <p:cNvSpPr/>
          <p:nvPr/>
        </p:nvSpPr>
        <p:spPr>
          <a:xfrm>
            <a:off x="876240" y="2425680"/>
            <a:ext cx="14490360" cy="533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AutoShape 4"/>
          <p:cNvSpPr/>
          <p:nvPr/>
        </p:nvSpPr>
        <p:spPr>
          <a:xfrm>
            <a:off x="8102520" y="2425680"/>
            <a:ext cx="12240" cy="5333760"/>
          </a:xfrm>
          <a:prstGeom prst="roundRect">
            <a:avLst>
              <a:gd name="adj" fmla="val 50000"/>
            </a:avLst>
          </a:prstGeom>
          <a:solidFill>
            <a:srgbClr val="10580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AutoShape 5"/>
          <p:cNvSpPr/>
          <p:nvPr/>
        </p:nvSpPr>
        <p:spPr>
          <a:xfrm>
            <a:off x="876240" y="2425680"/>
            <a:ext cx="7238520" cy="21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AutoShape 6"/>
          <p:cNvSpPr/>
          <p:nvPr/>
        </p:nvSpPr>
        <p:spPr>
          <a:xfrm>
            <a:off x="7835760" y="2425680"/>
            <a:ext cx="558360" cy="558360"/>
          </a:xfrm>
          <a:prstGeom prst="rect">
            <a:avLst/>
          </a:prstGeom>
          <a:solidFill>
            <a:srgbClr val="c9d4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AutoShape 7"/>
          <p:cNvSpPr/>
          <p:nvPr/>
        </p:nvSpPr>
        <p:spPr>
          <a:xfrm>
            <a:off x="7112160" y="2692440"/>
            <a:ext cx="748800" cy="12240"/>
          </a:xfrm>
          <a:prstGeom prst="rect">
            <a:avLst/>
          </a:prstGeom>
          <a:solidFill>
            <a:srgbClr val="10580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2400" bIns="-324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AutoShape 8"/>
          <p:cNvSpPr/>
          <p:nvPr/>
        </p:nvSpPr>
        <p:spPr>
          <a:xfrm>
            <a:off x="8115480" y="3936960"/>
            <a:ext cx="7238520" cy="184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AutoShape 9"/>
          <p:cNvSpPr/>
          <p:nvPr/>
        </p:nvSpPr>
        <p:spPr>
          <a:xfrm>
            <a:off x="7835760" y="3936960"/>
            <a:ext cx="558360" cy="558360"/>
          </a:xfrm>
          <a:prstGeom prst="rect">
            <a:avLst/>
          </a:prstGeom>
          <a:solidFill>
            <a:srgbClr val="c9d4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AutoShape 10"/>
          <p:cNvSpPr/>
          <p:nvPr/>
        </p:nvSpPr>
        <p:spPr>
          <a:xfrm>
            <a:off x="8381880" y="4203720"/>
            <a:ext cx="748800" cy="12240"/>
          </a:xfrm>
          <a:prstGeom prst="rect">
            <a:avLst/>
          </a:prstGeom>
          <a:solidFill>
            <a:srgbClr val="10580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2400" bIns="-324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AutoShape 11"/>
          <p:cNvSpPr/>
          <p:nvPr/>
        </p:nvSpPr>
        <p:spPr>
          <a:xfrm>
            <a:off x="876240" y="5118120"/>
            <a:ext cx="7238520" cy="165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AutoShape 12"/>
          <p:cNvSpPr/>
          <p:nvPr/>
        </p:nvSpPr>
        <p:spPr>
          <a:xfrm>
            <a:off x="7835760" y="5118120"/>
            <a:ext cx="558360" cy="558360"/>
          </a:xfrm>
          <a:prstGeom prst="rect">
            <a:avLst/>
          </a:prstGeom>
          <a:solidFill>
            <a:srgbClr val="c9d4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AutoShape 13"/>
          <p:cNvSpPr/>
          <p:nvPr/>
        </p:nvSpPr>
        <p:spPr>
          <a:xfrm>
            <a:off x="7112160" y="5384880"/>
            <a:ext cx="748800" cy="12240"/>
          </a:xfrm>
          <a:prstGeom prst="rect">
            <a:avLst/>
          </a:prstGeom>
          <a:solidFill>
            <a:srgbClr val="10580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2400" bIns="-324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AutoShape 14"/>
          <p:cNvSpPr/>
          <p:nvPr/>
        </p:nvSpPr>
        <p:spPr>
          <a:xfrm>
            <a:off x="8115480" y="6286680"/>
            <a:ext cx="7238520" cy="14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AutoShape 15"/>
          <p:cNvSpPr/>
          <p:nvPr/>
        </p:nvSpPr>
        <p:spPr>
          <a:xfrm>
            <a:off x="7835760" y="6286680"/>
            <a:ext cx="558360" cy="558360"/>
          </a:xfrm>
          <a:prstGeom prst="rect">
            <a:avLst/>
          </a:prstGeom>
          <a:solidFill>
            <a:srgbClr val="c9d4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AutoShape 16"/>
          <p:cNvSpPr/>
          <p:nvPr/>
        </p:nvSpPr>
        <p:spPr>
          <a:xfrm>
            <a:off x="8381880" y="6566040"/>
            <a:ext cx="748800" cy="12240"/>
          </a:xfrm>
          <a:prstGeom prst="rect">
            <a:avLst/>
          </a:prstGeom>
          <a:solidFill>
            <a:srgbClr val="10580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2400" bIns="-324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0" name="Picture 17" descr=""/>
          <p:cNvPicPr/>
          <p:nvPr/>
        </p:nvPicPr>
        <p:blipFill>
          <a:blip r:embed="rId2"/>
          <a:srcRect l="1012" t="0" r="1012" b="0"/>
          <a:stretch/>
        </p:blipFill>
        <p:spPr>
          <a:xfrm>
            <a:off x="14135040" y="190440"/>
            <a:ext cx="1904760" cy="46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TextBox 18"/>
          <p:cNvSpPr/>
          <p:nvPr/>
        </p:nvSpPr>
        <p:spPr>
          <a:xfrm>
            <a:off x="876240" y="1371600"/>
            <a:ext cx="14490360" cy="59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39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Evolución de la Virtualización</a:t>
            </a:r>
            <a:endParaRPr b="0" lang="en-US" sz="3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19"/>
          <p:cNvSpPr/>
          <p:nvPr/>
        </p:nvSpPr>
        <p:spPr>
          <a:xfrm>
            <a:off x="876240" y="2514600"/>
            <a:ext cx="598140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29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Servidores Físicos</a:t>
            </a:r>
            <a:endParaRPr b="0" lang="en-US" sz="2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20"/>
          <p:cNvSpPr/>
          <p:nvPr/>
        </p:nvSpPr>
        <p:spPr>
          <a:xfrm>
            <a:off x="9385200" y="4025880"/>
            <a:ext cx="598140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29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Máquinas Virtuales</a:t>
            </a:r>
            <a:endParaRPr b="0" lang="en-US" sz="2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21"/>
          <p:cNvSpPr/>
          <p:nvPr/>
        </p:nvSpPr>
        <p:spPr>
          <a:xfrm>
            <a:off x="876240" y="5207040"/>
            <a:ext cx="598140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29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Contenedores Docker</a:t>
            </a:r>
            <a:endParaRPr b="0" lang="en-US" sz="2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22"/>
          <p:cNvSpPr/>
          <p:nvPr/>
        </p:nvSpPr>
        <p:spPr>
          <a:xfrm>
            <a:off x="9385200" y="6375240"/>
            <a:ext cx="598140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29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Orquestación Cloud</a:t>
            </a:r>
            <a:endParaRPr b="0" lang="en-US" sz="2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23"/>
          <p:cNvSpPr/>
          <p:nvPr/>
        </p:nvSpPr>
        <p:spPr>
          <a:xfrm>
            <a:off x="876240" y="3137040"/>
            <a:ext cx="5981400" cy="11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Una aplicación por servidor físico, bajo aprovechamiento de recursos, costos elevados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24"/>
          <p:cNvSpPr/>
          <p:nvPr/>
        </p:nvSpPr>
        <p:spPr>
          <a:xfrm>
            <a:off x="9385200" y="4648320"/>
            <a:ext cx="5981400" cy="11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Múltiples sistemas operativos en un hardware, mejor aprovechamiento pero overhead significativo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25"/>
          <p:cNvSpPr/>
          <p:nvPr/>
        </p:nvSpPr>
        <p:spPr>
          <a:xfrm>
            <a:off x="876240" y="5829480"/>
            <a:ext cx="598140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Múltiples aplicaciones comparten el OS, máxima eficiencia y portabilidad absoluta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26"/>
          <p:cNvSpPr/>
          <p:nvPr/>
        </p:nvSpPr>
        <p:spPr>
          <a:xfrm>
            <a:off x="9385200" y="7010280"/>
            <a:ext cx="598140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Gestión automatizada y escalado dinámico de contenedores en entornos distribuidos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0" name="Picture 27" descr=""/>
          <p:cNvPicPr/>
          <p:nvPr/>
        </p:nvPicPr>
        <p:blipFill>
          <a:blip r:embed="rId3"/>
          <a:stretch/>
        </p:blipFill>
        <p:spPr>
          <a:xfrm>
            <a:off x="8001000" y="2577960"/>
            <a:ext cx="240840" cy="24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Picture 28" descr=""/>
          <p:cNvPicPr/>
          <p:nvPr/>
        </p:nvPicPr>
        <p:blipFill>
          <a:blip r:embed="rId4"/>
          <a:srcRect l="0" t="7002" r="0" b="7002"/>
          <a:stretch/>
        </p:blipFill>
        <p:spPr>
          <a:xfrm>
            <a:off x="7975440" y="4089240"/>
            <a:ext cx="279000" cy="24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Picture 29" descr=""/>
          <p:cNvPicPr/>
          <p:nvPr/>
        </p:nvPicPr>
        <p:blipFill>
          <a:blip r:embed="rId5"/>
          <a:srcRect l="0" t="7002" r="0" b="7002"/>
          <a:stretch/>
        </p:blipFill>
        <p:spPr>
          <a:xfrm>
            <a:off x="7975440" y="5270400"/>
            <a:ext cx="279000" cy="24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Picture 30" descr=""/>
          <p:cNvPicPr/>
          <p:nvPr/>
        </p:nvPicPr>
        <p:blipFill>
          <a:blip r:embed="rId6"/>
          <a:srcRect l="0" t="11000" r="0" b="11000"/>
          <a:stretch/>
        </p:blipFill>
        <p:spPr>
          <a:xfrm>
            <a:off x="7962840" y="6451560"/>
            <a:ext cx="304560" cy="240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AutoShape 2"/>
          <p:cNvSpPr/>
          <p:nvPr/>
        </p:nvSpPr>
        <p:spPr>
          <a:xfrm>
            <a:off x="0" y="0"/>
            <a:ext cx="16255800" cy="9143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AutoShape 3"/>
          <p:cNvSpPr/>
          <p:nvPr/>
        </p:nvSpPr>
        <p:spPr>
          <a:xfrm>
            <a:off x="1181160" y="1663560"/>
            <a:ext cx="8076960" cy="252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AutoShape 4"/>
          <p:cNvSpPr/>
          <p:nvPr/>
        </p:nvSpPr>
        <p:spPr>
          <a:xfrm>
            <a:off x="1181160" y="1663560"/>
            <a:ext cx="8076960" cy="2526840"/>
          </a:xfrm>
          <a:prstGeom prst="rect">
            <a:avLst/>
          </a:prstGeom>
          <a:solidFill>
            <a:srgbClr val="c9d4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AutoShape 5"/>
          <p:cNvSpPr/>
          <p:nvPr/>
        </p:nvSpPr>
        <p:spPr>
          <a:xfrm>
            <a:off x="1181160" y="4394160"/>
            <a:ext cx="8076960" cy="37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AutoShape 6"/>
          <p:cNvSpPr/>
          <p:nvPr/>
        </p:nvSpPr>
        <p:spPr>
          <a:xfrm>
            <a:off x="1181160" y="4394160"/>
            <a:ext cx="3911400" cy="3796920"/>
          </a:xfrm>
          <a:prstGeom prst="rect">
            <a:avLst/>
          </a:prstGeom>
          <a:solidFill>
            <a:srgbClr val="c9d4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AutoShape 7"/>
          <p:cNvSpPr/>
          <p:nvPr/>
        </p:nvSpPr>
        <p:spPr>
          <a:xfrm>
            <a:off x="1447920" y="4635360"/>
            <a:ext cx="711000" cy="711000"/>
          </a:xfrm>
          <a:prstGeom prst="roundRect">
            <a:avLst>
              <a:gd name="adj" fmla="val 50000"/>
            </a:avLst>
          </a:prstGeom>
          <a:solidFill>
            <a:srgbClr val="10580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AutoShape 8"/>
          <p:cNvSpPr/>
          <p:nvPr/>
        </p:nvSpPr>
        <p:spPr>
          <a:xfrm>
            <a:off x="5346720" y="4394160"/>
            <a:ext cx="3911400" cy="3796920"/>
          </a:xfrm>
          <a:prstGeom prst="rect">
            <a:avLst/>
          </a:prstGeom>
          <a:solidFill>
            <a:srgbClr val="c9d4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AutoShape 9"/>
          <p:cNvSpPr/>
          <p:nvPr/>
        </p:nvSpPr>
        <p:spPr>
          <a:xfrm>
            <a:off x="5613480" y="4635360"/>
            <a:ext cx="711000" cy="711000"/>
          </a:xfrm>
          <a:prstGeom prst="roundRect">
            <a:avLst>
              <a:gd name="adj" fmla="val 50000"/>
            </a:avLst>
          </a:prstGeom>
          <a:solidFill>
            <a:srgbClr val="10580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2" name="Picture 10" descr=""/>
          <p:cNvPicPr/>
          <p:nvPr/>
        </p:nvPicPr>
        <p:blipFill>
          <a:blip r:embed="rId1"/>
          <a:srcRect l="0" t="19000" r="0" b="19000"/>
          <a:stretch/>
        </p:blipFill>
        <p:spPr>
          <a:xfrm>
            <a:off x="9893160" y="2222640"/>
            <a:ext cx="5181120" cy="264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Picture 11" descr=""/>
          <p:cNvPicPr/>
          <p:nvPr/>
        </p:nvPicPr>
        <p:blipFill>
          <a:blip r:embed="rId2"/>
          <a:srcRect l="0" t="5003" r="0" b="5003"/>
          <a:stretch/>
        </p:blipFill>
        <p:spPr>
          <a:xfrm>
            <a:off x="9893160" y="4991040"/>
            <a:ext cx="5181120" cy="264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Picture 12" descr=""/>
          <p:cNvPicPr/>
          <p:nvPr/>
        </p:nvPicPr>
        <p:blipFill>
          <a:blip r:embed="rId3"/>
          <a:srcRect l="0" t="3030" r="0" b="3030"/>
          <a:stretch/>
        </p:blipFill>
        <p:spPr>
          <a:xfrm>
            <a:off x="14135040" y="190440"/>
            <a:ext cx="1904760" cy="44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TextBox 13"/>
          <p:cNvSpPr/>
          <p:nvPr/>
        </p:nvSpPr>
        <p:spPr>
          <a:xfrm>
            <a:off x="876240" y="660240"/>
            <a:ext cx="1449036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37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¿Qué es Docker?</a:t>
            </a:r>
            <a:endParaRPr b="0" lang="en-US" sz="3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14"/>
          <p:cNvSpPr/>
          <p:nvPr/>
        </p:nvSpPr>
        <p:spPr>
          <a:xfrm>
            <a:off x="1434960" y="1905120"/>
            <a:ext cx="75690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Plataforma de Containerización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15"/>
          <p:cNvSpPr/>
          <p:nvPr/>
        </p:nvSpPr>
        <p:spPr>
          <a:xfrm>
            <a:off x="1434960" y="5600880"/>
            <a:ext cx="340308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Contenedores Ligeros</a:t>
            </a:r>
            <a:endParaRPr b="0" lang="en-US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16"/>
          <p:cNvSpPr/>
          <p:nvPr/>
        </p:nvSpPr>
        <p:spPr>
          <a:xfrm>
            <a:off x="5600880" y="5600880"/>
            <a:ext cx="34030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Portabilidad Total</a:t>
            </a:r>
            <a:endParaRPr b="0" lang="en-US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17"/>
          <p:cNvSpPr/>
          <p:nvPr/>
        </p:nvSpPr>
        <p:spPr>
          <a:xfrm>
            <a:off x="1434960" y="2514600"/>
            <a:ext cx="7569000" cy="143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Docker es una plataforma de código abierto que permite empaquetar aplicaciones y sus dependencias en contenedores ligeros, portátiles y ejecutables en cualquier entorno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8"/>
          <p:cNvSpPr/>
          <p:nvPr/>
        </p:nvSpPr>
        <p:spPr>
          <a:xfrm>
            <a:off x="1434960" y="6515280"/>
            <a:ext cx="3403080" cy="143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Virtualizan el sistema operativo en lugar del hardware, compartiendo el kernel del host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19"/>
          <p:cNvSpPr/>
          <p:nvPr/>
        </p:nvSpPr>
        <p:spPr>
          <a:xfrm>
            <a:off x="5600880" y="6159600"/>
            <a:ext cx="3403080" cy="143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Ejecuta consistentemente en desarrollo, testing y producción sin modificaciones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2" name="Picture 20" descr=""/>
          <p:cNvPicPr/>
          <p:nvPr/>
        </p:nvPicPr>
        <p:blipFill>
          <a:blip r:embed="rId4"/>
          <a:srcRect l="2996" t="0" r="2996" b="0"/>
          <a:stretch/>
        </p:blipFill>
        <p:spPr>
          <a:xfrm>
            <a:off x="1701720" y="4876920"/>
            <a:ext cx="21564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Picture 21" descr=""/>
          <p:cNvPicPr/>
          <p:nvPr/>
        </p:nvPicPr>
        <p:blipFill>
          <a:blip r:embed="rId5"/>
          <a:srcRect l="0" t="2996" r="0" b="2996"/>
          <a:stretch/>
        </p:blipFill>
        <p:spPr>
          <a:xfrm>
            <a:off x="5854680" y="4876920"/>
            <a:ext cx="240840" cy="228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Marcador de contenido 3" descr=""/>
          <p:cNvPicPr/>
          <p:nvPr/>
        </p:nvPicPr>
        <p:blipFill>
          <a:blip r:embed="rId1"/>
          <a:stretch/>
        </p:blipFill>
        <p:spPr>
          <a:xfrm>
            <a:off x="360" y="-8640"/>
            <a:ext cx="16271640" cy="915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AutoShape 3"/>
          <p:cNvSpPr/>
          <p:nvPr/>
        </p:nvSpPr>
        <p:spPr>
          <a:xfrm>
            <a:off x="876240" y="2705040"/>
            <a:ext cx="14490360" cy="47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AutoShape 4"/>
          <p:cNvSpPr/>
          <p:nvPr/>
        </p:nvSpPr>
        <p:spPr>
          <a:xfrm>
            <a:off x="6311880" y="3289320"/>
            <a:ext cx="3619080" cy="3619080"/>
          </a:xfrm>
          <a:prstGeom prst="roundRect">
            <a:avLst>
              <a:gd name="adj" fmla="val 49824"/>
            </a:avLst>
          </a:prstGeom>
          <a:noFill/>
          <a:ln w="101600">
            <a:solidFill>
              <a:srgbClr val="1058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AutoShape 5"/>
          <p:cNvSpPr/>
          <p:nvPr/>
        </p:nvSpPr>
        <p:spPr>
          <a:xfrm>
            <a:off x="5994360" y="4775040"/>
            <a:ext cx="622080" cy="622080"/>
          </a:xfrm>
          <a:prstGeom prst="rect">
            <a:avLst/>
          </a:prstGeom>
          <a:solidFill>
            <a:srgbClr val="c9d4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AutoShape 6"/>
          <p:cNvSpPr/>
          <p:nvPr/>
        </p:nvSpPr>
        <p:spPr>
          <a:xfrm>
            <a:off x="8712360" y="3213000"/>
            <a:ext cx="622080" cy="622080"/>
          </a:xfrm>
          <a:prstGeom prst="rect">
            <a:avLst/>
          </a:prstGeom>
          <a:solidFill>
            <a:srgbClr val="c9d4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AutoShape 7"/>
          <p:cNvSpPr/>
          <p:nvPr/>
        </p:nvSpPr>
        <p:spPr>
          <a:xfrm>
            <a:off x="8712360" y="6350040"/>
            <a:ext cx="622080" cy="622080"/>
          </a:xfrm>
          <a:prstGeom prst="rect">
            <a:avLst/>
          </a:prstGeom>
          <a:solidFill>
            <a:srgbClr val="c9d4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" name="Picture 8" descr=""/>
          <p:cNvPicPr/>
          <p:nvPr/>
        </p:nvPicPr>
        <p:blipFill>
          <a:blip r:embed="rId2"/>
          <a:srcRect l="1012" t="0" r="1012" b="0"/>
          <a:stretch/>
        </p:blipFill>
        <p:spPr>
          <a:xfrm>
            <a:off x="14135040" y="190440"/>
            <a:ext cx="1904760" cy="46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TextBox 9"/>
          <p:cNvSpPr/>
          <p:nvPr/>
        </p:nvSpPr>
        <p:spPr>
          <a:xfrm>
            <a:off x="876240" y="1638360"/>
            <a:ext cx="14490360" cy="59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39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Arquitectura Docker</a:t>
            </a:r>
            <a:endParaRPr b="0" lang="en-US" sz="3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10"/>
          <p:cNvSpPr/>
          <p:nvPr/>
        </p:nvSpPr>
        <p:spPr>
          <a:xfrm>
            <a:off x="876240" y="4025880"/>
            <a:ext cx="467316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29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Docker Client</a:t>
            </a:r>
            <a:endParaRPr b="0" lang="en-US" sz="2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11"/>
          <p:cNvSpPr/>
          <p:nvPr/>
        </p:nvSpPr>
        <p:spPr>
          <a:xfrm>
            <a:off x="10693440" y="2705040"/>
            <a:ext cx="467316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29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Docker Daemon</a:t>
            </a:r>
            <a:endParaRPr b="0" lang="en-US" sz="2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12"/>
          <p:cNvSpPr/>
          <p:nvPr/>
        </p:nvSpPr>
        <p:spPr>
          <a:xfrm>
            <a:off x="10693440" y="5346720"/>
            <a:ext cx="467316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29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Docker Registry</a:t>
            </a:r>
            <a:endParaRPr b="0" lang="en-US" sz="2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13"/>
          <p:cNvSpPr/>
          <p:nvPr/>
        </p:nvSpPr>
        <p:spPr>
          <a:xfrm>
            <a:off x="876240" y="4648320"/>
            <a:ext cx="4673160" cy="151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Interfaz de línea de comandos que permite a los usuarios interactuar con Docker. Envía comandos al Docker Daemon mediante API REST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14"/>
          <p:cNvSpPr/>
          <p:nvPr/>
        </p:nvSpPr>
        <p:spPr>
          <a:xfrm>
            <a:off x="10693440" y="3327480"/>
            <a:ext cx="4673160" cy="151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Motor principal que gestiona imágenes, contenedores, redes y volúmenes. Escucha las peticiones de la API y ejecuta las operaciones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15"/>
          <p:cNvSpPr/>
          <p:nvPr/>
        </p:nvSpPr>
        <p:spPr>
          <a:xfrm>
            <a:off x="10693440" y="5981760"/>
            <a:ext cx="4673160" cy="151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Almacén centralizado de imágenes Docker. Docker Hub es el registro público por defecto donde se comparten imágenes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8" name="Picture 16" descr=""/>
          <p:cNvPicPr/>
          <p:nvPr/>
        </p:nvPicPr>
        <p:blipFill>
          <a:blip r:embed="rId3"/>
          <a:srcRect l="0" t="7002" r="0" b="7002"/>
          <a:stretch/>
        </p:blipFill>
        <p:spPr>
          <a:xfrm>
            <a:off x="6172200" y="4965840"/>
            <a:ext cx="279000" cy="24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Picture 17" descr=""/>
          <p:cNvPicPr/>
          <p:nvPr/>
        </p:nvPicPr>
        <p:blipFill>
          <a:blip r:embed="rId4"/>
          <a:srcRect l="0" t="11000" r="0" b="11000"/>
          <a:stretch/>
        </p:blipFill>
        <p:spPr>
          <a:xfrm>
            <a:off x="8864640" y="3403440"/>
            <a:ext cx="304560" cy="24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Picture 18" descr=""/>
          <p:cNvPicPr/>
          <p:nvPr/>
        </p:nvPicPr>
        <p:blipFill>
          <a:blip r:embed="rId5"/>
          <a:srcRect l="0" t="11000" r="0" b="11000"/>
          <a:stretch/>
        </p:blipFill>
        <p:spPr>
          <a:xfrm>
            <a:off x="8864640" y="6540480"/>
            <a:ext cx="304560" cy="240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AutoShape 2"/>
          <p:cNvSpPr/>
          <p:nvPr/>
        </p:nvSpPr>
        <p:spPr>
          <a:xfrm>
            <a:off x="0" y="0"/>
            <a:ext cx="16255800" cy="9143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AutoShape 3"/>
          <p:cNvSpPr/>
          <p:nvPr/>
        </p:nvSpPr>
        <p:spPr>
          <a:xfrm>
            <a:off x="876240" y="1625760"/>
            <a:ext cx="14490360" cy="685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AutoShape 4"/>
          <p:cNvSpPr/>
          <p:nvPr/>
        </p:nvSpPr>
        <p:spPr>
          <a:xfrm>
            <a:off x="876240" y="1625760"/>
            <a:ext cx="7086240" cy="685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AutoShape 5"/>
          <p:cNvSpPr/>
          <p:nvPr/>
        </p:nvSpPr>
        <p:spPr>
          <a:xfrm>
            <a:off x="876240" y="1625760"/>
            <a:ext cx="7086240" cy="685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AutoShape 6"/>
          <p:cNvSpPr/>
          <p:nvPr/>
        </p:nvSpPr>
        <p:spPr>
          <a:xfrm>
            <a:off x="876240" y="5638680"/>
            <a:ext cx="7086240" cy="2844360"/>
          </a:xfrm>
          <a:prstGeom prst="rect">
            <a:avLst/>
          </a:prstGeom>
          <a:solidFill>
            <a:srgbClr val="c9d4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AutoShape 7"/>
          <p:cNvSpPr/>
          <p:nvPr/>
        </p:nvSpPr>
        <p:spPr>
          <a:xfrm>
            <a:off x="8280360" y="1625760"/>
            <a:ext cx="7086240" cy="685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AutoShape 8"/>
          <p:cNvSpPr/>
          <p:nvPr/>
        </p:nvSpPr>
        <p:spPr>
          <a:xfrm>
            <a:off x="8280360" y="1625760"/>
            <a:ext cx="7086240" cy="685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AutoShape 9"/>
          <p:cNvSpPr/>
          <p:nvPr/>
        </p:nvSpPr>
        <p:spPr>
          <a:xfrm>
            <a:off x="8280360" y="1625760"/>
            <a:ext cx="7086240" cy="2844360"/>
          </a:xfrm>
          <a:prstGeom prst="rect">
            <a:avLst/>
          </a:prstGeom>
          <a:solidFill>
            <a:srgbClr val="c9d4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icture 10"/>
          <p:cNvSpPr/>
          <p:nvPr/>
        </p:nvSpPr>
        <p:spPr>
          <a:xfrm>
            <a:off x="876240" y="1625760"/>
            <a:ext cx="7086240" cy="3708000"/>
          </a:xfrm>
          <a:prstGeom prst="roundRect">
            <a:avLst>
              <a:gd name="adj" fmla="val 2054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icture 11"/>
          <p:cNvSpPr/>
          <p:nvPr/>
        </p:nvSpPr>
        <p:spPr>
          <a:xfrm>
            <a:off x="8280360" y="4775040"/>
            <a:ext cx="7086240" cy="3708000"/>
          </a:xfrm>
          <a:prstGeom prst="roundRect">
            <a:avLst>
              <a:gd name="adj" fmla="val 2054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1" name="Picture 12" descr=""/>
          <p:cNvPicPr/>
          <p:nvPr/>
        </p:nvPicPr>
        <p:blipFill>
          <a:blip r:embed="rId3"/>
          <a:srcRect l="0" t="4004" r="0" b="4004"/>
          <a:stretch/>
        </p:blipFill>
        <p:spPr>
          <a:xfrm>
            <a:off x="14135040" y="177840"/>
            <a:ext cx="1904760" cy="43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TextBox 13"/>
          <p:cNvSpPr/>
          <p:nvPr/>
        </p:nvSpPr>
        <p:spPr>
          <a:xfrm>
            <a:off x="876240" y="635040"/>
            <a:ext cx="1449036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Contenedores vs Máquinas Virtuales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4"/>
          <p:cNvSpPr/>
          <p:nvPr/>
        </p:nvSpPr>
        <p:spPr>
          <a:xfrm>
            <a:off x="1130400" y="5867280"/>
            <a:ext cx="65782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Contenedores Docker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15"/>
          <p:cNvSpPr/>
          <p:nvPr/>
        </p:nvSpPr>
        <p:spPr>
          <a:xfrm>
            <a:off x="8534520" y="1854360"/>
            <a:ext cx="65782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Máquinas Virtuales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16"/>
          <p:cNvSpPr/>
          <p:nvPr/>
        </p:nvSpPr>
        <p:spPr>
          <a:xfrm>
            <a:off x="1384200" y="6477120"/>
            <a:ext cx="63241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Comparten el kernel del sistema operativo host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17"/>
          <p:cNvSpPr/>
          <p:nvPr/>
        </p:nvSpPr>
        <p:spPr>
          <a:xfrm>
            <a:off x="1384200" y="7010280"/>
            <a:ext cx="63241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Inicio en segundos, uso mínimo de recursos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8"/>
          <p:cNvSpPr/>
          <p:nvPr/>
        </p:nvSpPr>
        <p:spPr>
          <a:xfrm>
            <a:off x="1384200" y="7556400"/>
            <a:ext cx="632412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Altamente portátiles entre diferentes entornos y plataformas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19"/>
          <p:cNvSpPr/>
          <p:nvPr/>
        </p:nvSpPr>
        <p:spPr>
          <a:xfrm>
            <a:off x="8788320" y="2463840"/>
            <a:ext cx="63241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Cada VM incluye un sistema operativo completo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20"/>
          <p:cNvSpPr/>
          <p:nvPr/>
        </p:nvSpPr>
        <p:spPr>
          <a:xfrm>
            <a:off x="8788320" y="2997360"/>
            <a:ext cx="63241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Inicio en minutos, mayor consumo de recursos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21"/>
          <p:cNvSpPr/>
          <p:nvPr/>
        </p:nvSpPr>
        <p:spPr>
          <a:xfrm>
            <a:off x="8788320" y="3543480"/>
            <a:ext cx="632412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Aislamiento completo pero menor eficiencia de recursos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22"/>
          <p:cNvSpPr/>
          <p:nvPr/>
        </p:nvSpPr>
        <p:spPr>
          <a:xfrm>
            <a:off x="1003320" y="6527880"/>
            <a:ext cx="240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105809"/>
                </a:solidFill>
                <a:effectLst/>
                <a:uFillTx/>
                <a:latin typeface="Calibri"/>
                <a:ea typeface="Poppins"/>
              </a:rPr>
              <a:t>●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23"/>
          <p:cNvSpPr/>
          <p:nvPr/>
        </p:nvSpPr>
        <p:spPr>
          <a:xfrm>
            <a:off x="1003320" y="7074000"/>
            <a:ext cx="240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105809"/>
                </a:solidFill>
                <a:effectLst/>
                <a:uFillTx/>
                <a:latin typeface="Calibri"/>
                <a:ea typeface="Poppins"/>
              </a:rPr>
              <a:t>●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24"/>
          <p:cNvSpPr/>
          <p:nvPr/>
        </p:nvSpPr>
        <p:spPr>
          <a:xfrm>
            <a:off x="1003320" y="7607160"/>
            <a:ext cx="240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105809"/>
                </a:solidFill>
                <a:effectLst/>
                <a:uFillTx/>
                <a:latin typeface="Calibri"/>
                <a:ea typeface="Poppins"/>
              </a:rPr>
              <a:t>●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25"/>
          <p:cNvSpPr/>
          <p:nvPr/>
        </p:nvSpPr>
        <p:spPr>
          <a:xfrm>
            <a:off x="8407440" y="2514600"/>
            <a:ext cx="240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105809"/>
                </a:solidFill>
                <a:effectLst/>
                <a:uFillTx/>
                <a:latin typeface="Calibri"/>
                <a:ea typeface="Poppins"/>
              </a:rPr>
              <a:t>●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26"/>
          <p:cNvSpPr/>
          <p:nvPr/>
        </p:nvSpPr>
        <p:spPr>
          <a:xfrm>
            <a:off x="8407440" y="3060720"/>
            <a:ext cx="240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105809"/>
                </a:solidFill>
                <a:effectLst/>
                <a:uFillTx/>
                <a:latin typeface="Calibri"/>
                <a:ea typeface="Poppins"/>
              </a:rPr>
              <a:t>●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27"/>
          <p:cNvSpPr/>
          <p:nvPr/>
        </p:nvSpPr>
        <p:spPr>
          <a:xfrm>
            <a:off x="8407440" y="3594240"/>
            <a:ext cx="240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105809"/>
                </a:solidFill>
                <a:effectLst/>
                <a:uFillTx/>
                <a:latin typeface="Calibri"/>
                <a:ea typeface="Poppins"/>
              </a:rPr>
              <a:t>●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AutoShape 2"/>
          <p:cNvSpPr/>
          <p:nvPr/>
        </p:nvSpPr>
        <p:spPr>
          <a:xfrm>
            <a:off x="0" y="0"/>
            <a:ext cx="16255800" cy="9143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AutoShape 3"/>
          <p:cNvSpPr/>
          <p:nvPr/>
        </p:nvSpPr>
        <p:spPr>
          <a:xfrm>
            <a:off x="1181160" y="2006640"/>
            <a:ext cx="8076960" cy="5866920"/>
          </a:xfrm>
          <a:prstGeom prst="rect">
            <a:avLst/>
          </a:prstGeom>
          <a:solidFill>
            <a:srgbClr val="c9d4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AutoShape 4"/>
          <p:cNvSpPr/>
          <p:nvPr/>
        </p:nvSpPr>
        <p:spPr>
          <a:xfrm>
            <a:off x="9893160" y="1689120"/>
            <a:ext cx="5181120" cy="64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AutoShape 5"/>
          <p:cNvSpPr/>
          <p:nvPr/>
        </p:nvSpPr>
        <p:spPr>
          <a:xfrm>
            <a:off x="9893160" y="1689120"/>
            <a:ext cx="5181120" cy="3123720"/>
          </a:xfrm>
          <a:prstGeom prst="rect">
            <a:avLst/>
          </a:prstGeom>
          <a:solidFill>
            <a:srgbClr val="c9d4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AutoShape 6"/>
          <p:cNvSpPr/>
          <p:nvPr/>
        </p:nvSpPr>
        <p:spPr>
          <a:xfrm>
            <a:off x="12115800" y="1930320"/>
            <a:ext cx="723600" cy="723600"/>
          </a:xfrm>
          <a:prstGeom prst="roundRect">
            <a:avLst>
              <a:gd name="adj" fmla="val 49122"/>
            </a:avLst>
          </a:prstGeom>
          <a:solidFill>
            <a:srgbClr val="10580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AutoShape 7"/>
          <p:cNvSpPr/>
          <p:nvPr/>
        </p:nvSpPr>
        <p:spPr>
          <a:xfrm>
            <a:off x="9893160" y="5067360"/>
            <a:ext cx="5181120" cy="3123720"/>
          </a:xfrm>
          <a:prstGeom prst="rect">
            <a:avLst/>
          </a:prstGeom>
          <a:solidFill>
            <a:srgbClr val="c9d4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AutoShape 8"/>
          <p:cNvSpPr/>
          <p:nvPr/>
        </p:nvSpPr>
        <p:spPr>
          <a:xfrm>
            <a:off x="12115800" y="5308560"/>
            <a:ext cx="723600" cy="723600"/>
          </a:xfrm>
          <a:prstGeom prst="roundRect">
            <a:avLst>
              <a:gd name="adj" fmla="val 49122"/>
            </a:avLst>
          </a:prstGeom>
          <a:solidFill>
            <a:srgbClr val="10580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4" name="Picture 9" descr=""/>
          <p:cNvPicPr/>
          <p:nvPr/>
        </p:nvPicPr>
        <p:blipFill>
          <a:blip r:embed="rId1"/>
          <a:srcRect l="0" t="1948" r="0" b="1948"/>
          <a:stretch/>
        </p:blipFill>
        <p:spPr>
          <a:xfrm>
            <a:off x="14135040" y="190440"/>
            <a:ext cx="1904760" cy="4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5" name="Picture 10" descr=""/>
          <p:cNvPicPr/>
          <p:nvPr/>
        </p:nvPicPr>
        <p:blipFill>
          <a:blip r:embed="rId2"/>
          <a:stretch/>
        </p:blipFill>
        <p:spPr>
          <a:xfrm>
            <a:off x="1295280" y="2006640"/>
            <a:ext cx="7822800" cy="587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TextBox 11"/>
          <p:cNvSpPr/>
          <p:nvPr/>
        </p:nvSpPr>
        <p:spPr>
          <a:xfrm>
            <a:off x="876240" y="660240"/>
            <a:ext cx="1449036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Comparativa de Rendimiento</a:t>
            </a:r>
            <a:endParaRPr b="0" lang="en-US" sz="3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12"/>
          <p:cNvSpPr/>
          <p:nvPr/>
        </p:nvSpPr>
        <p:spPr>
          <a:xfrm>
            <a:off x="10147320" y="2908440"/>
            <a:ext cx="46731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Velocidad Superior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13"/>
          <p:cNvSpPr/>
          <p:nvPr/>
        </p:nvSpPr>
        <p:spPr>
          <a:xfrm>
            <a:off x="10147320" y="6286680"/>
            <a:ext cx="46731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Eficiencia Recursos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14"/>
          <p:cNvSpPr/>
          <p:nvPr/>
        </p:nvSpPr>
        <p:spPr>
          <a:xfrm>
            <a:off x="10147320" y="3479760"/>
            <a:ext cx="4673160" cy="10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Los contenedores inician en segundos vs minutos de las VMs, optimizando ciclos desarrollo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15"/>
          <p:cNvSpPr/>
          <p:nvPr/>
        </p:nvSpPr>
        <p:spPr>
          <a:xfrm>
            <a:off x="10147320" y="6845400"/>
            <a:ext cx="4673160" cy="10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Hasta 10x menos uso de memoria y CPU comparado con máquinas virtuales tradicionales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1" name="Picture 16" descr=""/>
          <p:cNvPicPr/>
          <p:nvPr/>
        </p:nvPicPr>
        <p:blipFill>
          <a:blip r:embed="rId3"/>
          <a:stretch/>
        </p:blipFill>
        <p:spPr>
          <a:xfrm>
            <a:off x="12357000" y="2184480"/>
            <a:ext cx="240840" cy="24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2" name="Picture 17" descr=""/>
          <p:cNvPicPr/>
          <p:nvPr/>
        </p:nvPicPr>
        <p:blipFill>
          <a:blip r:embed="rId4"/>
          <a:srcRect l="0" t="7002" r="0" b="7002"/>
          <a:stretch/>
        </p:blipFill>
        <p:spPr>
          <a:xfrm>
            <a:off x="12344400" y="5549760"/>
            <a:ext cx="279000" cy="240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Marcador de contenido 5" descr=""/>
          <p:cNvPicPr/>
          <p:nvPr/>
        </p:nvPicPr>
        <p:blipFill>
          <a:blip r:embed="rId1"/>
          <a:stretch/>
        </p:blipFill>
        <p:spPr>
          <a:xfrm>
            <a:off x="360" y="-8640"/>
            <a:ext cx="16271640" cy="915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AutoShape 3"/>
          <p:cNvSpPr/>
          <p:nvPr/>
        </p:nvSpPr>
        <p:spPr>
          <a:xfrm>
            <a:off x="876240" y="2171880"/>
            <a:ext cx="14490360" cy="58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AutoShape 4"/>
          <p:cNvSpPr/>
          <p:nvPr/>
        </p:nvSpPr>
        <p:spPr>
          <a:xfrm>
            <a:off x="876240" y="2171880"/>
            <a:ext cx="14490360" cy="14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AutoShape 5"/>
          <p:cNvSpPr/>
          <p:nvPr/>
        </p:nvSpPr>
        <p:spPr>
          <a:xfrm>
            <a:off x="1003320" y="3632040"/>
            <a:ext cx="11048760" cy="12240"/>
          </a:xfrm>
          <a:prstGeom prst="rect">
            <a:avLst/>
          </a:prstGeom>
          <a:solidFill>
            <a:srgbClr val="10580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2400" bIns="-324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AutoShape 6"/>
          <p:cNvSpPr/>
          <p:nvPr/>
        </p:nvSpPr>
        <p:spPr>
          <a:xfrm>
            <a:off x="876240" y="3632040"/>
            <a:ext cx="14490360" cy="14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AutoShape 7"/>
          <p:cNvSpPr/>
          <p:nvPr/>
        </p:nvSpPr>
        <p:spPr>
          <a:xfrm>
            <a:off x="1003320" y="5092560"/>
            <a:ext cx="10172520" cy="12240"/>
          </a:xfrm>
          <a:prstGeom prst="rect">
            <a:avLst/>
          </a:prstGeom>
          <a:solidFill>
            <a:srgbClr val="10580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2400" bIns="-324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AutoShape 8"/>
          <p:cNvSpPr/>
          <p:nvPr/>
        </p:nvSpPr>
        <p:spPr>
          <a:xfrm>
            <a:off x="876240" y="5092560"/>
            <a:ext cx="14490360" cy="14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AutoShape 9"/>
          <p:cNvSpPr/>
          <p:nvPr/>
        </p:nvSpPr>
        <p:spPr>
          <a:xfrm>
            <a:off x="1003320" y="6553080"/>
            <a:ext cx="9308880" cy="12240"/>
          </a:xfrm>
          <a:prstGeom prst="rect">
            <a:avLst/>
          </a:prstGeom>
          <a:solidFill>
            <a:srgbClr val="10580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2400" bIns="-324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AutoShape 10"/>
          <p:cNvSpPr/>
          <p:nvPr/>
        </p:nvSpPr>
        <p:spPr>
          <a:xfrm>
            <a:off x="876240" y="6553080"/>
            <a:ext cx="14490360" cy="14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AutoShape 11"/>
          <p:cNvSpPr/>
          <p:nvPr/>
        </p:nvSpPr>
        <p:spPr>
          <a:xfrm>
            <a:off x="1003320" y="8013600"/>
            <a:ext cx="8432280" cy="12240"/>
          </a:xfrm>
          <a:prstGeom prst="rect">
            <a:avLst/>
          </a:prstGeom>
          <a:solidFill>
            <a:srgbClr val="10580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2400" bIns="-324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3" name="Picture 12" descr=""/>
          <p:cNvPicPr/>
          <p:nvPr/>
        </p:nvPicPr>
        <p:blipFill>
          <a:blip r:embed="rId2"/>
          <a:stretch/>
        </p:blipFill>
        <p:spPr>
          <a:xfrm>
            <a:off x="12179160" y="2171880"/>
            <a:ext cx="3187440" cy="201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4" name="Picture 13" descr=""/>
          <p:cNvPicPr/>
          <p:nvPr/>
        </p:nvPicPr>
        <p:blipFill>
          <a:blip r:embed="rId3"/>
          <a:stretch/>
        </p:blipFill>
        <p:spPr>
          <a:xfrm>
            <a:off x="12179160" y="2171880"/>
            <a:ext cx="3187440" cy="201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5" name="Picture 14" descr=""/>
          <p:cNvPicPr/>
          <p:nvPr/>
        </p:nvPicPr>
        <p:blipFill>
          <a:blip r:embed="rId4"/>
          <a:stretch/>
        </p:blipFill>
        <p:spPr>
          <a:xfrm>
            <a:off x="12179160" y="2171880"/>
            <a:ext cx="3187440" cy="201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6" name="Picture 15" descr=""/>
          <p:cNvPicPr/>
          <p:nvPr/>
        </p:nvPicPr>
        <p:blipFill>
          <a:blip r:embed="rId5"/>
          <a:stretch/>
        </p:blipFill>
        <p:spPr>
          <a:xfrm>
            <a:off x="12179160" y="2171880"/>
            <a:ext cx="3187440" cy="201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7" name="Picture 16" descr=""/>
          <p:cNvPicPr/>
          <p:nvPr/>
        </p:nvPicPr>
        <p:blipFill>
          <a:blip r:embed="rId6"/>
          <a:stretch/>
        </p:blipFill>
        <p:spPr>
          <a:xfrm>
            <a:off x="11315880" y="3632040"/>
            <a:ext cx="4051080" cy="200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8" name="Picture 17" descr=""/>
          <p:cNvPicPr/>
          <p:nvPr/>
        </p:nvPicPr>
        <p:blipFill>
          <a:blip r:embed="rId7"/>
          <a:stretch/>
        </p:blipFill>
        <p:spPr>
          <a:xfrm>
            <a:off x="11315880" y="3632040"/>
            <a:ext cx="4051080" cy="200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9" name="Picture 18" descr=""/>
          <p:cNvPicPr/>
          <p:nvPr/>
        </p:nvPicPr>
        <p:blipFill>
          <a:blip r:embed="rId8"/>
          <a:stretch/>
        </p:blipFill>
        <p:spPr>
          <a:xfrm>
            <a:off x="11315880" y="3632040"/>
            <a:ext cx="4051080" cy="200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0" name="Picture 19" descr=""/>
          <p:cNvPicPr/>
          <p:nvPr/>
        </p:nvPicPr>
        <p:blipFill>
          <a:blip r:embed="rId9"/>
          <a:stretch/>
        </p:blipFill>
        <p:spPr>
          <a:xfrm>
            <a:off x="10439280" y="5092560"/>
            <a:ext cx="4914720" cy="200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1" name="Picture 20" descr=""/>
          <p:cNvPicPr/>
          <p:nvPr/>
        </p:nvPicPr>
        <p:blipFill>
          <a:blip r:embed="rId10"/>
          <a:stretch/>
        </p:blipFill>
        <p:spPr>
          <a:xfrm>
            <a:off x="10439280" y="5092560"/>
            <a:ext cx="4914720" cy="200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2" name="Picture 21" descr=""/>
          <p:cNvPicPr/>
          <p:nvPr/>
        </p:nvPicPr>
        <p:blipFill>
          <a:blip r:embed="rId11"/>
          <a:stretch/>
        </p:blipFill>
        <p:spPr>
          <a:xfrm>
            <a:off x="10439280" y="5092560"/>
            <a:ext cx="4914720" cy="200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3" name="Picture 22" descr=""/>
          <p:cNvPicPr/>
          <p:nvPr/>
        </p:nvPicPr>
        <p:blipFill>
          <a:blip r:embed="rId12"/>
          <a:stretch/>
        </p:blipFill>
        <p:spPr>
          <a:xfrm>
            <a:off x="9575640" y="6553080"/>
            <a:ext cx="5790960" cy="200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4" name="Picture 23" descr=""/>
          <p:cNvPicPr/>
          <p:nvPr/>
        </p:nvPicPr>
        <p:blipFill>
          <a:blip r:embed="rId13"/>
          <a:stretch/>
        </p:blipFill>
        <p:spPr>
          <a:xfrm>
            <a:off x="9575640" y="6553080"/>
            <a:ext cx="5790960" cy="200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5" name="Picture 24" descr=""/>
          <p:cNvPicPr/>
          <p:nvPr/>
        </p:nvPicPr>
        <p:blipFill>
          <a:blip r:embed="rId14"/>
          <a:stretch/>
        </p:blipFill>
        <p:spPr>
          <a:xfrm>
            <a:off x="9575640" y="6553080"/>
            <a:ext cx="5790960" cy="200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6" name="Picture 25" descr=""/>
          <p:cNvPicPr/>
          <p:nvPr/>
        </p:nvPicPr>
        <p:blipFill>
          <a:blip r:embed="rId15"/>
          <a:srcRect l="1012" t="0" r="1012" b="0"/>
          <a:stretch/>
        </p:blipFill>
        <p:spPr>
          <a:xfrm>
            <a:off x="14135040" y="190440"/>
            <a:ext cx="1904760" cy="46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7" name="TextBox 26"/>
          <p:cNvSpPr/>
          <p:nvPr/>
        </p:nvSpPr>
        <p:spPr>
          <a:xfrm>
            <a:off x="876240" y="1117440"/>
            <a:ext cx="14490360" cy="59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39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Ciclo de Vida Docker</a:t>
            </a:r>
            <a:endParaRPr b="0" lang="en-US" sz="3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27"/>
          <p:cNvSpPr/>
          <p:nvPr/>
        </p:nvSpPr>
        <p:spPr>
          <a:xfrm>
            <a:off x="12979440" y="3365640"/>
            <a:ext cx="30456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1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28"/>
          <p:cNvSpPr/>
          <p:nvPr/>
        </p:nvSpPr>
        <p:spPr>
          <a:xfrm>
            <a:off x="5549760" y="2425680"/>
            <a:ext cx="63622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Build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29"/>
          <p:cNvSpPr/>
          <p:nvPr/>
        </p:nvSpPr>
        <p:spPr>
          <a:xfrm>
            <a:off x="12090240" y="4826160"/>
            <a:ext cx="30456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2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30"/>
          <p:cNvSpPr/>
          <p:nvPr/>
        </p:nvSpPr>
        <p:spPr>
          <a:xfrm>
            <a:off x="6489720" y="3886200"/>
            <a:ext cx="45590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Ship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31"/>
          <p:cNvSpPr/>
          <p:nvPr/>
        </p:nvSpPr>
        <p:spPr>
          <a:xfrm>
            <a:off x="11214000" y="6286680"/>
            <a:ext cx="30456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3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32"/>
          <p:cNvSpPr/>
          <p:nvPr/>
        </p:nvSpPr>
        <p:spPr>
          <a:xfrm>
            <a:off x="4902120" y="5346720"/>
            <a:ext cx="52700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Run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33"/>
          <p:cNvSpPr/>
          <p:nvPr/>
        </p:nvSpPr>
        <p:spPr>
          <a:xfrm>
            <a:off x="10350360" y="7746840"/>
            <a:ext cx="30456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4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34"/>
          <p:cNvSpPr/>
          <p:nvPr/>
        </p:nvSpPr>
        <p:spPr>
          <a:xfrm>
            <a:off x="4140360" y="6807240"/>
            <a:ext cx="51811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Monitor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35"/>
          <p:cNvSpPr/>
          <p:nvPr/>
        </p:nvSpPr>
        <p:spPr>
          <a:xfrm>
            <a:off x="5549760" y="3009960"/>
            <a:ext cx="63622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Crear imagen desde Dockerfile con dependencias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36"/>
          <p:cNvSpPr/>
          <p:nvPr/>
        </p:nvSpPr>
        <p:spPr>
          <a:xfrm>
            <a:off x="6489720" y="4470480"/>
            <a:ext cx="45590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Subir imagen al registro Docker Hub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37"/>
          <p:cNvSpPr/>
          <p:nvPr/>
        </p:nvSpPr>
        <p:spPr>
          <a:xfrm>
            <a:off x="4902120" y="5931000"/>
            <a:ext cx="52700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Ejecutar contenedor en cualquier entorno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38"/>
          <p:cNvSpPr/>
          <p:nvPr/>
        </p:nvSpPr>
        <p:spPr>
          <a:xfrm>
            <a:off x="4140360" y="7391520"/>
            <a:ext cx="51811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Supervisar rendimiento y logs aplicación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AutoShape 2"/>
          <p:cNvSpPr/>
          <p:nvPr/>
        </p:nvSpPr>
        <p:spPr>
          <a:xfrm>
            <a:off x="0" y="0"/>
            <a:ext cx="16255800" cy="9143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AutoShape 3"/>
          <p:cNvSpPr/>
          <p:nvPr/>
        </p:nvSpPr>
        <p:spPr>
          <a:xfrm>
            <a:off x="876240" y="1714680"/>
            <a:ext cx="14490360" cy="67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AutoShape 4"/>
          <p:cNvSpPr/>
          <p:nvPr/>
        </p:nvSpPr>
        <p:spPr>
          <a:xfrm>
            <a:off x="876240" y="1714680"/>
            <a:ext cx="4609800" cy="67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AutoShape 5"/>
          <p:cNvSpPr/>
          <p:nvPr/>
        </p:nvSpPr>
        <p:spPr>
          <a:xfrm>
            <a:off x="876240" y="1714680"/>
            <a:ext cx="4609800" cy="6730560"/>
          </a:xfrm>
          <a:prstGeom prst="rect">
            <a:avLst/>
          </a:prstGeom>
          <a:solidFill>
            <a:srgbClr val="c9d4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AutoShape 6"/>
          <p:cNvSpPr/>
          <p:nvPr/>
        </p:nvSpPr>
        <p:spPr>
          <a:xfrm>
            <a:off x="1130400" y="4559400"/>
            <a:ext cx="4114440" cy="363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AutoShape 7"/>
          <p:cNvSpPr/>
          <p:nvPr/>
        </p:nvSpPr>
        <p:spPr>
          <a:xfrm>
            <a:off x="5816520" y="1714680"/>
            <a:ext cx="4609800" cy="67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AutoShape 8"/>
          <p:cNvSpPr/>
          <p:nvPr/>
        </p:nvSpPr>
        <p:spPr>
          <a:xfrm>
            <a:off x="5816520" y="1714680"/>
            <a:ext cx="4609800" cy="6730560"/>
          </a:xfrm>
          <a:prstGeom prst="rect">
            <a:avLst/>
          </a:prstGeom>
          <a:solidFill>
            <a:srgbClr val="c9d4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AutoShape 9"/>
          <p:cNvSpPr/>
          <p:nvPr/>
        </p:nvSpPr>
        <p:spPr>
          <a:xfrm>
            <a:off x="6058080" y="4559400"/>
            <a:ext cx="4114440" cy="363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AutoShape 10"/>
          <p:cNvSpPr/>
          <p:nvPr/>
        </p:nvSpPr>
        <p:spPr>
          <a:xfrm>
            <a:off x="10744200" y="1714680"/>
            <a:ext cx="4609800" cy="67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AutoShape 11"/>
          <p:cNvSpPr/>
          <p:nvPr/>
        </p:nvSpPr>
        <p:spPr>
          <a:xfrm>
            <a:off x="10744200" y="1714680"/>
            <a:ext cx="4609800" cy="6730560"/>
          </a:xfrm>
          <a:prstGeom prst="rect">
            <a:avLst/>
          </a:prstGeom>
          <a:solidFill>
            <a:srgbClr val="c9d4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AutoShape 12"/>
          <p:cNvSpPr/>
          <p:nvPr/>
        </p:nvSpPr>
        <p:spPr>
          <a:xfrm>
            <a:off x="10998360" y="4559400"/>
            <a:ext cx="4114440" cy="363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Picture 13"/>
          <p:cNvSpPr/>
          <p:nvPr/>
        </p:nvSpPr>
        <p:spPr>
          <a:xfrm>
            <a:off x="1130400" y="1968480"/>
            <a:ext cx="4114440" cy="2273040"/>
          </a:xfrm>
          <a:prstGeom prst="roundRect">
            <a:avLst>
              <a:gd name="adj" fmla="val 3351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icture 14"/>
          <p:cNvSpPr/>
          <p:nvPr/>
        </p:nvSpPr>
        <p:spPr>
          <a:xfrm>
            <a:off x="6058080" y="1968480"/>
            <a:ext cx="4114440" cy="2273040"/>
          </a:xfrm>
          <a:prstGeom prst="roundRect">
            <a:avLst>
              <a:gd name="adj" fmla="val 3351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icture 15"/>
          <p:cNvSpPr/>
          <p:nvPr/>
        </p:nvSpPr>
        <p:spPr>
          <a:xfrm>
            <a:off x="10998360" y="1968480"/>
            <a:ext cx="4114440" cy="2273040"/>
          </a:xfrm>
          <a:prstGeom prst="roundRect">
            <a:avLst>
              <a:gd name="adj" fmla="val 3351"/>
            </a:avLst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4" name="Picture 16" descr=""/>
          <p:cNvPicPr/>
          <p:nvPr/>
        </p:nvPicPr>
        <p:blipFill>
          <a:blip r:embed="rId4"/>
          <a:srcRect l="0" t="1948" r="0" b="1948"/>
          <a:stretch/>
        </p:blipFill>
        <p:spPr>
          <a:xfrm>
            <a:off x="14135040" y="190440"/>
            <a:ext cx="1904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5" name="TextBox 17"/>
          <p:cNvSpPr/>
          <p:nvPr/>
        </p:nvSpPr>
        <p:spPr>
          <a:xfrm>
            <a:off x="876240" y="673200"/>
            <a:ext cx="1449036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39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Casos de Uso y Beneficios</a:t>
            </a:r>
            <a:endParaRPr b="0" lang="en-US" sz="3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18"/>
          <p:cNvSpPr/>
          <p:nvPr/>
        </p:nvSpPr>
        <p:spPr>
          <a:xfrm>
            <a:off x="1130400" y="4559400"/>
            <a:ext cx="411444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29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Desarrollo Ágil</a:t>
            </a:r>
            <a:endParaRPr b="0" lang="en-US" sz="2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19"/>
          <p:cNvSpPr/>
          <p:nvPr/>
        </p:nvSpPr>
        <p:spPr>
          <a:xfrm>
            <a:off x="6058080" y="4559400"/>
            <a:ext cx="411444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29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Despliegue Cloud</a:t>
            </a:r>
            <a:endParaRPr b="0" lang="en-US" sz="2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20"/>
          <p:cNvSpPr/>
          <p:nvPr/>
        </p:nvSpPr>
        <p:spPr>
          <a:xfrm>
            <a:off x="10998360" y="4559400"/>
            <a:ext cx="411444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2900" strike="noStrike" u="none">
                <a:solidFill>
                  <a:srgbClr val="105809"/>
                </a:solidFill>
                <a:effectLst/>
                <a:uFillTx/>
                <a:latin typeface="&quot;Yeseva One&quot;"/>
              </a:rPr>
              <a:t>Microservicios</a:t>
            </a:r>
            <a:endParaRPr b="0" lang="en-US" sz="2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21"/>
          <p:cNvSpPr/>
          <p:nvPr/>
        </p:nvSpPr>
        <p:spPr>
          <a:xfrm>
            <a:off x="1384200" y="5194440"/>
            <a:ext cx="38602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Entornos consistentes entre desarrollo y producción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22"/>
          <p:cNvSpPr/>
          <p:nvPr/>
        </p:nvSpPr>
        <p:spPr>
          <a:xfrm>
            <a:off x="1384200" y="6146640"/>
            <a:ext cx="3860280" cy="11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Configuración rápida de stacks tecnológicos complejos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23"/>
          <p:cNvSpPr/>
          <p:nvPr/>
        </p:nvSpPr>
        <p:spPr>
          <a:xfrm>
            <a:off x="1384200" y="7454880"/>
            <a:ext cx="38602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Aislamiento completo entre diferentes proyectos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24"/>
          <p:cNvSpPr/>
          <p:nvPr/>
        </p:nvSpPr>
        <p:spPr>
          <a:xfrm>
            <a:off x="6311880" y="5194440"/>
            <a:ext cx="38602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Escalado horizontal automático según demanda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25"/>
          <p:cNvSpPr/>
          <p:nvPr/>
        </p:nvSpPr>
        <p:spPr>
          <a:xfrm>
            <a:off x="6311880" y="6146640"/>
            <a:ext cx="38602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Integración perfecta con servicios cloud nativos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26"/>
          <p:cNvSpPr/>
          <p:nvPr/>
        </p:nvSpPr>
        <p:spPr>
          <a:xfrm>
            <a:off x="6311880" y="7086600"/>
            <a:ext cx="38602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Orquestación avanzada con Kubernetes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27"/>
          <p:cNvSpPr/>
          <p:nvPr/>
        </p:nvSpPr>
        <p:spPr>
          <a:xfrm>
            <a:off x="11252160" y="5194440"/>
            <a:ext cx="38602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Arquitectura distribuida con servicios independientes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28"/>
          <p:cNvSpPr/>
          <p:nvPr/>
        </p:nvSpPr>
        <p:spPr>
          <a:xfrm>
            <a:off x="11252160" y="6146640"/>
            <a:ext cx="38602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Actualizaciones y despliegues sin interrupciones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29"/>
          <p:cNvSpPr/>
          <p:nvPr/>
        </p:nvSpPr>
        <p:spPr>
          <a:xfrm>
            <a:off x="11252160" y="7086600"/>
            <a:ext cx="38602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05809"/>
                </a:solidFill>
                <a:effectLst/>
                <a:uFillTx/>
                <a:latin typeface="Poppins"/>
              </a:rPr>
              <a:t>Tecnologías heterogéneas en mismo ecosistema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30"/>
          <p:cNvSpPr/>
          <p:nvPr/>
        </p:nvSpPr>
        <p:spPr>
          <a:xfrm>
            <a:off x="1003320" y="5257800"/>
            <a:ext cx="24084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900" strike="noStrike" u="none">
                <a:solidFill>
                  <a:srgbClr val="105809"/>
                </a:solidFill>
                <a:effectLst/>
                <a:uFillTx/>
                <a:latin typeface="Calibri"/>
                <a:ea typeface="Poppins"/>
              </a:rPr>
              <a:t>●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31"/>
          <p:cNvSpPr/>
          <p:nvPr/>
        </p:nvSpPr>
        <p:spPr>
          <a:xfrm>
            <a:off x="1003320" y="6197760"/>
            <a:ext cx="24084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900" strike="noStrike" u="none">
                <a:solidFill>
                  <a:srgbClr val="105809"/>
                </a:solidFill>
                <a:effectLst/>
                <a:uFillTx/>
                <a:latin typeface="Calibri"/>
                <a:ea typeface="Poppins"/>
              </a:rPr>
              <a:t>●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32"/>
          <p:cNvSpPr/>
          <p:nvPr/>
        </p:nvSpPr>
        <p:spPr>
          <a:xfrm>
            <a:off x="1003320" y="7518240"/>
            <a:ext cx="24084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900" strike="noStrike" u="none">
                <a:solidFill>
                  <a:srgbClr val="105809"/>
                </a:solidFill>
                <a:effectLst/>
                <a:uFillTx/>
                <a:latin typeface="Calibri"/>
                <a:ea typeface="Poppins"/>
              </a:rPr>
              <a:t>●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33"/>
          <p:cNvSpPr/>
          <p:nvPr/>
        </p:nvSpPr>
        <p:spPr>
          <a:xfrm>
            <a:off x="5931000" y="5257800"/>
            <a:ext cx="24084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900" strike="noStrike" u="none">
                <a:solidFill>
                  <a:srgbClr val="105809"/>
                </a:solidFill>
                <a:effectLst/>
                <a:uFillTx/>
                <a:latin typeface="Calibri"/>
                <a:ea typeface="Poppins"/>
              </a:rPr>
              <a:t>●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34"/>
          <p:cNvSpPr/>
          <p:nvPr/>
        </p:nvSpPr>
        <p:spPr>
          <a:xfrm>
            <a:off x="5931000" y="6197760"/>
            <a:ext cx="24084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900" strike="noStrike" u="none">
                <a:solidFill>
                  <a:srgbClr val="105809"/>
                </a:solidFill>
                <a:effectLst/>
                <a:uFillTx/>
                <a:latin typeface="Calibri"/>
                <a:ea typeface="Poppins"/>
              </a:rPr>
              <a:t>●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35"/>
          <p:cNvSpPr/>
          <p:nvPr/>
        </p:nvSpPr>
        <p:spPr>
          <a:xfrm>
            <a:off x="5931000" y="7149960"/>
            <a:ext cx="24084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900" strike="noStrike" u="none">
                <a:solidFill>
                  <a:srgbClr val="105809"/>
                </a:solidFill>
                <a:effectLst/>
                <a:uFillTx/>
                <a:latin typeface="Calibri"/>
                <a:ea typeface="Poppins"/>
              </a:rPr>
              <a:t>●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36"/>
          <p:cNvSpPr/>
          <p:nvPr/>
        </p:nvSpPr>
        <p:spPr>
          <a:xfrm>
            <a:off x="10871280" y="5257800"/>
            <a:ext cx="24084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900" strike="noStrike" u="none">
                <a:solidFill>
                  <a:srgbClr val="105809"/>
                </a:solidFill>
                <a:effectLst/>
                <a:uFillTx/>
                <a:latin typeface="Calibri"/>
                <a:ea typeface="Poppins"/>
              </a:rPr>
              <a:t>●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37"/>
          <p:cNvSpPr/>
          <p:nvPr/>
        </p:nvSpPr>
        <p:spPr>
          <a:xfrm>
            <a:off x="10871280" y="6197760"/>
            <a:ext cx="24084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900" strike="noStrike" u="none">
                <a:solidFill>
                  <a:srgbClr val="105809"/>
                </a:solidFill>
                <a:effectLst/>
                <a:uFillTx/>
                <a:latin typeface="Calibri"/>
                <a:ea typeface="Poppins"/>
              </a:rPr>
              <a:t>●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38"/>
          <p:cNvSpPr/>
          <p:nvPr/>
        </p:nvSpPr>
        <p:spPr>
          <a:xfrm>
            <a:off x="10871280" y="7149960"/>
            <a:ext cx="24084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900" strike="noStrike" u="none">
                <a:solidFill>
                  <a:srgbClr val="105809"/>
                </a:solidFill>
                <a:effectLst/>
                <a:uFillTx/>
                <a:latin typeface="Calibri"/>
                <a:ea typeface="Poppins"/>
              </a:rPr>
              <a:t>●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Marcador de contenido 6" descr=""/>
          <p:cNvPicPr/>
          <p:nvPr/>
        </p:nvPicPr>
        <p:blipFill>
          <a:blip r:embed="rId1"/>
          <a:stretch/>
        </p:blipFill>
        <p:spPr>
          <a:xfrm>
            <a:off x="-7200" y="0"/>
            <a:ext cx="16263360" cy="914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8" name="Gráfico 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4046120" y="415800"/>
            <a:ext cx="1821240" cy="44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CuadroTexto 6"/>
          <p:cNvSpPr/>
          <p:nvPr/>
        </p:nvSpPr>
        <p:spPr>
          <a:xfrm>
            <a:off x="952920" y="2502000"/>
            <a:ext cx="38282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s-CO" sz="3200" strike="noStrike" u="none">
                <a:solidFill>
                  <a:schemeClr val="lt1"/>
                </a:solidFill>
                <a:effectLst/>
                <a:uFillTx/>
                <a:latin typeface="Arial Black"/>
              </a:rPr>
              <a:t>Gracias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70" name="vertical"/>
          <p:cNvGrpSpPr/>
          <p:nvPr/>
        </p:nvGrpSpPr>
        <p:grpSpPr>
          <a:xfrm>
            <a:off x="1126080" y="5454360"/>
            <a:ext cx="2645640" cy="2244600"/>
            <a:chOff x="1126080" y="5454360"/>
            <a:chExt cx="2645640" cy="2244600"/>
          </a:xfrm>
        </p:grpSpPr>
        <p:grpSp>
          <p:nvGrpSpPr>
            <p:cNvPr id="271" name="duv-uaf-iaf"/>
            <p:cNvGrpSpPr/>
            <p:nvPr/>
          </p:nvGrpSpPr>
          <p:grpSpPr>
            <a:xfrm>
              <a:off x="2511720" y="5454360"/>
              <a:ext cx="1260000" cy="2244600"/>
              <a:chOff x="2511720" y="5454360"/>
              <a:chExt cx="1260000" cy="2244600"/>
            </a:xfrm>
          </p:grpSpPr>
          <p:sp>
            <p:nvSpPr>
              <p:cNvPr id="272" name="Rectángulo 14"/>
              <p:cNvSpPr/>
              <p:nvPr/>
            </p:nvSpPr>
            <p:spPr>
              <a:xfrm>
                <a:off x="2512080" y="5454360"/>
                <a:ext cx="1259640" cy="2244600"/>
              </a:xfrm>
              <a:prstGeom prst="rect">
                <a:avLst/>
              </a:prstGeom>
              <a:solidFill>
                <a:srgbClr val="b3be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es-CO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73" name="Rectángulo 15"/>
              <p:cNvSpPr/>
              <p:nvPr/>
            </p:nvSpPr>
            <p:spPr>
              <a:xfrm>
                <a:off x="2512080" y="5454360"/>
                <a:ext cx="1259640" cy="16038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es-CO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pic>
            <p:nvPicPr>
              <p:cNvPr id="274" name="Imagen 16" descr=""/>
              <p:cNvPicPr/>
              <p:nvPr/>
            </p:nvPicPr>
            <p:blipFill>
              <a:blip r:embed="rId4"/>
              <a:stretch/>
            </p:blipFill>
            <p:spPr>
              <a:xfrm>
                <a:off x="2762640" y="5594400"/>
                <a:ext cx="757800" cy="2595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75" name="Imagen 17" descr=""/>
              <p:cNvPicPr/>
              <p:nvPr/>
            </p:nvPicPr>
            <p:blipFill>
              <a:blip r:embed="rId5"/>
              <a:stretch/>
            </p:blipFill>
            <p:spPr>
              <a:xfrm>
                <a:off x="2778840" y="6001920"/>
                <a:ext cx="725400" cy="3420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76" name="Imagen 18" descr=""/>
              <p:cNvPicPr/>
              <p:nvPr/>
            </p:nvPicPr>
            <p:blipFill>
              <a:blip r:embed="rId6"/>
              <a:stretch/>
            </p:blipFill>
            <p:spPr>
              <a:xfrm>
                <a:off x="2758320" y="6490800"/>
                <a:ext cx="765720" cy="4683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277" name="CuadroTexto 19"/>
              <p:cNvSpPr/>
              <p:nvPr/>
            </p:nvSpPr>
            <p:spPr>
              <a:xfrm>
                <a:off x="2530080" y="7153920"/>
                <a:ext cx="1222200" cy="272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b="1" lang="es-CO" sz="400" strike="noStrike" u="none">
                    <a:solidFill>
                      <a:srgbClr val="00356e"/>
                    </a:solidFill>
                    <a:effectLst/>
                    <a:uFillTx/>
                    <a:latin typeface="Calibri"/>
                  </a:rPr>
                  <a:t>ISO 27001:2022</a:t>
                </a:r>
                <a:endParaRPr b="0" lang="en-US" sz="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457200">
                  <a:lnSpc>
                    <a:spcPct val="100000"/>
                  </a:lnSpc>
                </a:pPr>
                <a:r>
                  <a:rPr b="0" lang="es-CO" sz="4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PRC/DUV-COL/IS3164</a:t>
                </a:r>
                <a:endParaRPr b="0" lang="en-US" sz="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457200">
                  <a:lnSpc>
                    <a:spcPct val="100000"/>
                  </a:lnSpc>
                </a:pPr>
                <a:r>
                  <a:rPr b="0" lang="es-CO" sz="4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CAB/DUV-COL/IS3165</a:t>
                </a:r>
                <a:endParaRPr b="0" lang="en-US" sz="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278" name="Conector recto 20"/>
              <p:cNvCxnSpPr/>
              <p:nvPr/>
            </p:nvCxnSpPr>
            <p:spPr>
              <a:xfrm>
                <a:off x="2511720" y="7058880"/>
                <a:ext cx="1260360" cy="360"/>
              </a:xfrm>
              <a:prstGeom prst="straightConnector1">
                <a:avLst/>
              </a:prstGeom>
              <a:ln>
                <a:solidFill>
                  <a:srgbClr val="000000">
                    <a:lumMod val="65000"/>
                    <a:lumOff val="35000"/>
                  </a:srgbClr>
                </a:solidFill>
              </a:ln>
            </p:spPr>
          </p:cxnSp>
        </p:grpSp>
        <p:grpSp>
          <p:nvGrpSpPr>
            <p:cNvPr id="279" name="future builders"/>
            <p:cNvGrpSpPr/>
            <p:nvPr/>
          </p:nvGrpSpPr>
          <p:grpSpPr>
            <a:xfrm>
              <a:off x="1126080" y="5454360"/>
              <a:ext cx="1238400" cy="2244600"/>
              <a:chOff x="1126080" y="5454360"/>
              <a:chExt cx="1238400" cy="2244600"/>
            </a:xfrm>
          </p:grpSpPr>
          <p:sp>
            <p:nvSpPr>
              <p:cNvPr id="280" name="Rectángulo 10"/>
              <p:cNvSpPr/>
              <p:nvPr/>
            </p:nvSpPr>
            <p:spPr>
              <a:xfrm>
                <a:off x="1126080" y="5454360"/>
                <a:ext cx="1237320" cy="2244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es-CO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pic>
            <p:nvPicPr>
              <p:cNvPr id="281" name="Imagen 11" descr=""/>
              <p:cNvPicPr/>
              <p:nvPr/>
            </p:nvPicPr>
            <p:blipFill>
              <a:blip r:embed="rId7"/>
              <a:stretch/>
            </p:blipFill>
            <p:spPr>
              <a:xfrm>
                <a:off x="1127520" y="5462640"/>
                <a:ext cx="1236960" cy="17431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282" name="Rectángulo 12"/>
              <p:cNvSpPr/>
              <p:nvPr/>
            </p:nvSpPr>
            <p:spPr>
              <a:xfrm>
                <a:off x="1211400" y="6526800"/>
                <a:ext cx="1058400" cy="1037160"/>
              </a:xfrm>
              <a:prstGeom prst="rect">
                <a:avLst/>
              </a:prstGeom>
              <a:solidFill>
                <a:srgbClr val="b1bfc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es-CO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283" name="CuadroTexto 13"/>
              <p:cNvSpPr/>
              <p:nvPr/>
            </p:nvSpPr>
            <p:spPr>
              <a:xfrm>
                <a:off x="1222200" y="6526800"/>
                <a:ext cx="1046520" cy="516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b="1" lang="es-CO" sz="400" strike="noStrike" u="none">
                    <a:solidFill>
                      <a:srgbClr val="00356e"/>
                    </a:solidFill>
                    <a:effectLst/>
                    <a:uFillTx/>
                    <a:latin typeface="Calibri"/>
                  </a:rPr>
                  <a:t>ISO 9001:2015</a:t>
                </a:r>
                <a:endParaRPr b="0" lang="en-US" sz="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457200">
                  <a:lnSpc>
                    <a:spcPct val="100000"/>
                  </a:lnSpc>
                </a:pPr>
                <a:r>
                  <a:rPr b="0" lang="es-CO" sz="4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MSC-57124103</a:t>
                </a:r>
                <a:endParaRPr b="0" lang="en-US" sz="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457200">
                  <a:lnSpc>
                    <a:spcPct val="100000"/>
                  </a:lnSpc>
                </a:pPr>
                <a:r>
                  <a:rPr b="0" lang="es-CO" sz="4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MSC-57124103-1</a:t>
                </a:r>
                <a:endParaRPr b="0" lang="en-US" sz="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457200">
                  <a:lnSpc>
                    <a:spcPct val="100000"/>
                  </a:lnSpc>
                </a:pPr>
                <a:endParaRPr b="0" lang="en-US" sz="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457200">
                  <a:lnSpc>
                    <a:spcPts val="0"/>
                  </a:lnSpc>
                </a:pPr>
                <a:endParaRPr b="0" lang="en-US" sz="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457200">
                  <a:lnSpc>
                    <a:spcPct val="100000"/>
                  </a:lnSpc>
                </a:pPr>
                <a:r>
                  <a:rPr b="1" lang="es-CO" sz="400" strike="noStrike" u="none">
                    <a:solidFill>
                      <a:srgbClr val="00356e"/>
                    </a:solidFill>
                    <a:effectLst/>
                    <a:uFillTx/>
                    <a:latin typeface="Calibri"/>
                  </a:rPr>
                  <a:t>ISO 27032:2023</a:t>
                </a:r>
                <a:endParaRPr b="0" lang="en-US" sz="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457200">
                  <a:lnSpc>
                    <a:spcPct val="100000"/>
                  </a:lnSpc>
                </a:pPr>
                <a:r>
                  <a:rPr b="0" lang="es-CO" sz="4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MSC-571924002</a:t>
                </a:r>
                <a:endParaRPr b="0" lang="en-US" sz="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457200">
                  <a:lnSpc>
                    <a:spcPct val="100000"/>
                  </a:lnSpc>
                </a:pPr>
                <a:r>
                  <a:rPr b="0" lang="es-CO" sz="4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MSC-571924002-1</a:t>
                </a:r>
                <a:endParaRPr b="0" lang="en-US" sz="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284" name="Imagen 22" descr=""/>
          <p:cNvPicPr/>
          <p:nvPr/>
        </p:nvPicPr>
        <p:blipFill>
          <a:blip r:embed="rId8"/>
          <a:stretch/>
        </p:blipFill>
        <p:spPr>
          <a:xfrm>
            <a:off x="1092960" y="3566880"/>
            <a:ext cx="4865040" cy="151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5" name="Imagen 26" descr=""/>
          <p:cNvPicPr/>
          <p:nvPr/>
        </p:nvPicPr>
        <p:blipFill>
          <a:blip r:embed="rId9"/>
          <a:stretch/>
        </p:blipFill>
        <p:spPr>
          <a:xfrm>
            <a:off x="474120" y="8446320"/>
            <a:ext cx="6456240" cy="300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86" name="Conector recto 28"/>
          <p:cNvCxnSpPr/>
          <p:nvPr/>
        </p:nvCxnSpPr>
        <p:spPr>
          <a:xfrm>
            <a:off x="7248600" y="8490960"/>
            <a:ext cx="8960040" cy="7560"/>
          </a:xfrm>
          <a:prstGeom prst="straightConnector1">
            <a:avLst/>
          </a:prstGeom>
          <a:ln w="19050">
            <a:solidFill>
              <a:srgbClr val="6dfd8c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LibreOffice/25.8.1.1$Linux_X86_64 LibreOffice_project/580$Build-1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2025-11-02T21:40:18Z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